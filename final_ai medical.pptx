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77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73" r:id="rId13"/>
    <p:sldId id="274" r:id="rId14"/>
    <p:sldId id="275" r:id="rId15"/>
    <p:sldId id="276" r:id="rId16"/>
    <p:sldId id="272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4" d="100"/>
          <a:sy n="114" d="100"/>
        </p:scale>
        <p:origin x="1056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002499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32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8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7F46A02-B0B8-4157-9C9F-1D1286136077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12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33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4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648B9B5-2E86-4E46-94B7-C0DE8270F881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13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33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7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3A14A56-A9C8-4BCB-AFF2-5D79E4FE9776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14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33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0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200FB4F-28DC-4DF6-9C38-4649D94B0A1D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15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760878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160091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000500" y="491793"/>
            <a:ext cx="1007635" cy="1007635"/>
          </a:xfrm>
          <a:custGeom>
            <a:avLst/>
            <a:gdLst/>
            <a:ahLst/>
            <a:cxnLst/>
            <a:rect l="l" t="t" r="r" b="b"/>
            <a:pathLst>
              <a:path w="2015269" h="2015269">
                <a:moveTo>
                  <a:pt x="0" y="0"/>
                </a:moveTo>
                <a:lnTo>
                  <a:pt x="2015270" y="0"/>
                </a:lnTo>
                <a:lnTo>
                  <a:pt x="2015270" y="2015269"/>
                </a:lnTo>
                <a:lnTo>
                  <a:pt x="0" y="201526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 sz="900" dirty="0"/>
          </a:p>
        </p:txBody>
      </p:sp>
      <p:sp>
        <p:nvSpPr>
          <p:cNvPr id="3" name="TextBox 3"/>
          <p:cNvSpPr txBox="1"/>
          <p:nvPr/>
        </p:nvSpPr>
        <p:spPr>
          <a:xfrm>
            <a:off x="-1875718" y="3976688"/>
            <a:ext cx="3751435" cy="1520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900">
                <a:solidFill>
                  <a:srgbClr val="000000"/>
                </a:solidFill>
                <a:latin typeface="Times New Roman"/>
              </a:rPr>
              <a:t>BY: [TEAM MEMBERS]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664470" y="3778065"/>
            <a:ext cx="2281145" cy="885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00"/>
              </a:lnSpc>
            </a:pPr>
            <a:r>
              <a:rPr sz="1000">
                <a:solidFill>
                  <a:srgbClr val="000000"/>
                </a:solidFill>
                <a:latin typeface="Times New Roman"/>
              </a:rPr>
              <a:t>Under the guidance
of [Guide Name]
Project Review - 0th Phase
January 2026</a:t>
            </a:r>
            <a:endParaRPr sz="900" dirty="0"/>
          </a:p>
        </p:txBody>
      </p:sp>
      <p:sp>
        <p:nvSpPr>
          <p:cNvPr id="5" name="TextBox 5"/>
          <p:cNvSpPr txBox="1"/>
          <p:nvPr/>
        </p:nvSpPr>
        <p:spPr>
          <a:xfrm>
            <a:off x="2111650" y="2049360"/>
            <a:ext cx="5036803" cy="2836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/>
            <a:r>
              <a:rPr sz="1843">
                <a:solidFill>
                  <a:srgbClr val="000000"/>
                </a:solidFill>
                <a:latin typeface="Times New Roman"/>
              </a:rPr>
              <a:t>RAGHU ENGINEERING COLLEGE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14350" y="4186873"/>
            <a:ext cx="1695093" cy="2702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20"/>
              </a:lnSpc>
            </a:pPr>
            <a:endParaRPr lang="en-US" sz="800" dirty="0">
              <a:latin typeface="Canva Sans"/>
            </a:endParaRPr>
          </a:p>
          <a:p>
            <a:pPr algn="ctr">
              <a:lnSpc>
                <a:spcPts val="1120"/>
              </a:lnSpc>
            </a:pPr>
            <a:endParaRPr lang="en-US" sz="800" dirty="0">
              <a:solidFill>
                <a:srgbClr val="000000"/>
              </a:solidFill>
              <a:latin typeface="Canva Sans"/>
              <a:ea typeface="Canva Sans"/>
              <a:cs typeface="Canva Sans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762000" y="2446144"/>
            <a:ext cx="7736104" cy="2797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80"/>
              </a:lnSpc>
            </a:pPr>
            <a:r>
              <a:rPr sz="1675">
                <a:solidFill>
                  <a:srgbClr val="000000"/>
                </a:solidFill>
                <a:latin typeface="Canva Sans"/>
              </a:rPr>
              <a:t>"COMPUTER SCIENCE AND ENGINEERING - DATA SCIENCE"</a:t>
            </a:r>
            <a:endParaRPr lang="en-US" sz="1700" dirty="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10312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"AI-Based Medical Assistant for Lab Report Analysis Using Multi-Agent LangGraph Architecture"</a:t>
            </a:r>
            <a:endParaRPr lang="en-US" sz="3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ABSTRACT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Medical laboratory tests generate complex reports that patients struggle to interpret. This project develops a comprehensive AI-powered medical assistant system that automatically processes lab reports (CBC, HbA1c, lipid profiles), extracts key biomarkers, classifies severity using hybrid rule-based and machine learning approaches, and generates patient-friendly explanations with personalized dietary recommendations.</a:t>
            </a:r>
            <a:endParaRPr lang="en-US" sz="1400" dirty="0"/>
          </a:p>
          <a:p>
            <a:pPr marL="0" indent="0" algn="just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400" dirty="0"/>
          </a:p>
          <a:p>
            <a:pPr marL="0" indent="0" algn="just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multi-agent LangGraph architecture orchestrates 12 specialized agents handling document preprocessing, value extraction, normalization, severity assessment, and explanation generation. The system achieves 94.32% accuracy in severity classification using XGBoost models combined with explainable rule-based engines, and 96.2% accuracy in value extraction from diverse report formats.</a:t>
            </a:r>
            <a:endParaRPr lang="en-US" sz="1400" dirty="0"/>
          </a:p>
          <a:p>
            <a:pPr marL="0" indent="0" algn="just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400" dirty="0"/>
          </a:p>
          <a:p>
            <a:pPr marL="0" indent="0" algn="just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bridging the gap between complex medical data and patient understanding, this system empowers individuals to make informed health decisions and take appropriate actions with proper medical disclaimers.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PRESENTATION OUTLINE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 &amp; Motivation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Objectives &amp; Scope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Literature Review &amp; Related Work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System &amp; Methodology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Multi-Agent Architecture Design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 Learning Models &amp; Training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Diagrams &amp; Workflows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 &amp; Future Work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 algn="l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reports contain complex medical terminology, numerical values, and reference ranges that are difficult for patients to interpret without medical expertise, leading to anxiety and confusion.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400" dirty="0"/>
          </a:p>
          <a:p>
            <a:pPr marL="342900" indent="-342900" algn="l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India, the demand for medical services far exceeds the supply of healthcare professionals, particularly in rural areas where access to timely medical consultation is limited.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400" dirty="0"/>
          </a:p>
          <a:p>
            <a:pPr marL="342900" indent="-342900" algn="l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Traditional medical chatbots provide conversational interfaces but lack sophisticated document processing capabilities needed to extract, analyze, and explain structured medical data from lab reports.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400" dirty="0"/>
          </a:p>
          <a:p>
            <a:pPr marL="342900" indent="-342900" algn="l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Existing systems either use simple rule-based approaches lacking ML capabilities, or pure ML models without explainability - both unsuitable for medical applications requiring accuracy and trust.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OBJECTIVES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 algn="l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 multi-agent LangGraph system for automated lab report processing with specialized agents for document preprocessing, value extraction, normalization, and classification.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400" dirty="0"/>
          </a:p>
          <a:p>
            <a:pPr marL="342900" indent="-342900" algn="l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 hybrid severity classification combining rule-based medical thresholds with XGBoost/Random Forest ML models, achieving 94%+ accuracy with full explainability.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400" dirty="0"/>
          </a:p>
          <a:p>
            <a:pPr marL="342900" indent="-342900" algn="l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automated generation of patient-friendly explanations and Indian-contextualized dietary recommendations based on extracted biomarkers and severity levels.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400" dirty="0"/>
          </a:p>
          <a:p>
            <a:pPr marL="342900" indent="-342900" algn="l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production-ready system with FastAPI backend, Streamlit frontend, and comprehensive safety layers including medical disclaimers and red-flag detection.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SCOPE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 &amp; Lab Reports: </a:t>
            </a: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100+ real lab reports including CBC, HbA1c diabetes panels, lipid profiles, and comprehensive metabolic panels. Supports both PDF text extraction and OCR for scanned images.</a:t>
            </a:r>
            <a:endParaRPr lang="en-US" sz="1300" dirty="0"/>
          </a:p>
          <a:p>
            <a:pPr marL="0" indent="0" algn="just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300" dirty="0"/>
          </a:p>
          <a:p>
            <a:pPr marL="0" indent="0" algn="just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Multi-Agent Pipeline: </a:t>
            </a: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specialized LangGraph agents: Upload validation, preprocessing, report type detection, value extraction, normalization, rule-based severity engine, ML predictor, conflict resolver, explanation generator, diet protocol, next steps, and final composer.</a:t>
            </a:r>
            <a:endParaRPr lang="en-US" sz="1300" dirty="0"/>
          </a:p>
          <a:p>
            <a:pPr marL="0" indent="0" algn="just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300" dirty="0"/>
          </a:p>
          <a:p>
            <a:pPr marL="0" indent="0" algn="just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Models: </a:t>
            </a: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XGBoost and Random Forest classifiers for diabetes (HbA1c, FBS, PPBS, age) and lipid risk (LDL, HDL, triglycerides, total cholesterol). Training: 70/15/15 split with cross-validation.</a:t>
            </a:r>
            <a:endParaRPr lang="en-US" sz="1300" dirty="0"/>
          </a:p>
          <a:p>
            <a:pPr marL="0" indent="0" algn="just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300" dirty="0"/>
          </a:p>
          <a:p>
            <a:pPr marL="0" indent="0" algn="just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Boundaries: </a:t>
            </a: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Computer-aided analysis for common lab tests with healthy controls. Provides educational information, NOT diagnosis or treatment. Always includes medical disclaimers and urgent care recommendations for critical values.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LITERATURE REVIEW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Medical Chatbots &amp; AI Assistants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Chakraborty et al. (2023): AI chatbot for infectious disease prediction using LSTM achieving 94.32% accuracy. Focus on conversational interfaces but limited document processing capabilities.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200" dirty="0"/>
          </a:p>
          <a:p>
            <a:pPr marL="0" indent="0" algn="l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Document Intelligence &amp; Information Extraction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OCR and NLP techniques for medical document parsing. Challenges include varied formats, inconsistent terminology, and need for high accuracy in value extraction.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200" dirty="0"/>
          </a:p>
          <a:p>
            <a:pPr marL="0" indent="0" algn="l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Clinical Decision Support Systems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Traditional CDSS use rule-based engines encoding medical guidelines (explainable but rigid). ML approaches offer pattern recognition from data but suffer from black-box interpretability issues.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200" dirty="0"/>
          </a:p>
          <a:p>
            <a:pPr marL="0" indent="0" algn="l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Multi-Agent Systems in Healthcare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LangGraph framework enables building stateful multi-agent systems with conditional routing. Allows modular design where agents handle specialized subtasks independently.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LIMITATIONS IN EXISTING SYSTEMS</a:t>
            </a:r>
            <a:endParaRPr lang="en-US" sz="3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8229600" cy="3200400"/>
        </p:xfrm>
        <a:graphic>
          <a:graphicData uri="http://schemas.openxmlformats.org/drawingml/2006/table">
            <a:tbl>
              <a:tblPr/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Existing Systems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Proposed System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Pure chatbots lack document processing capabilities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Multi-agent LangGraph architecture with 12 specialized agents for complete document-to-insight pipeline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Rule-based systems are rigid and cannot adapt to pattern variations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Hybrid approach combining rule-based medical thresholds with XGBoost ML models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ML-only models lack explainability and clinical trust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Achieves 94.32% accuracy while maintaining full explainability through conflict resolution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comprehensive multi-agent orchestration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Complete pipeline: Upload → Extract → Normalize → Classify → Explain → Recommend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Generic advice without cultural context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Indian-contextualized dietary recommendations with cultural food preferences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Limited accuracy (87-88%)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96.2% value extraction accuracy and 94.32% severity classification accuracy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SYSTEM METHODOLOGY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Sources: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Report PDFs/Images, User Context (age, gender), Symptom Checklist, Dietary Preferences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300" dirty="0"/>
          </a:p>
          <a:p>
            <a:pPr marL="0" indent="0" algn="l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Architecture: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LangGraph Multi-Agent System with 12 Specialized Agents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Management and Conditional Routing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300" dirty="0"/>
          </a:p>
          <a:p>
            <a:pPr marL="0" indent="0" algn="l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Models: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XGBoost Classifiers for Diabetes and Lipid Risk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Forest Baseline, Rule-Based Engine, Hybrid Resolution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300" dirty="0"/>
          </a:p>
          <a:p>
            <a:pPr marL="0" indent="0" algn="l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 Stack: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Backend: FastAPI | Frontend: Streamlit | ML: scikit-learn/XGBoost | OCR: Tesseract/EasyOCR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300" dirty="0"/>
          </a:p>
          <a:p>
            <a:pPr marL="0" indent="0" algn="l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 Flow: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 → Preprocess → Extract → Normalize → Classify → Explain → Recommend → Output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COMPETITIVE ADVANTAGES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 algn="l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Higher Accuracy: 94.32% classification accuracy vs 88.1% rule-based and 87.3% chatbot baselines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300" dirty="0"/>
          </a:p>
          <a:p>
            <a:pPr marL="342900" indent="-342900" algn="l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Explainability: Hybrid approach provides both ML precision and rule-based transparency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300" dirty="0"/>
          </a:p>
          <a:p>
            <a:pPr marL="342900" indent="-342900" algn="l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Intelligence: Complete pipeline from PDF/image upload to structured insights (96.2% extraction accuracy)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300" dirty="0"/>
          </a:p>
          <a:p>
            <a:pPr marL="342900" indent="-342900" algn="l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Clinical Safety: Medical disclaimers, red-flag detection, and conservative conflict resolution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300" dirty="0"/>
          </a:p>
          <a:p>
            <a:pPr marL="342900" indent="-342900" algn="l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Cultural Context: Indian-friendly dietary recommendations (reduce white rice, maida) vs generic advice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300" dirty="0"/>
          </a:p>
          <a:p>
            <a:pPr marL="342900" indent="-342900" algn="l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Ready: FastAPI backend, Streamlit UI, comprehensive error handling, 8.3s avg response time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0"/>
          <p:cNvSpPr/>
          <p:nvPr/>
        </p:nvSpPr>
        <p:spPr>
          <a:xfrm>
            <a:off x="274320" y="182880"/>
            <a:ext cx="859500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strike="noStrike" spc="-1">
                <a:solidFill>
                  <a:srgbClr val="000000"/>
                </a:solidFill>
                <a:latin typeface="Calibri"/>
              </a:rPr>
              <a:t>SYSTEM ARCHITECTURE - AI MEDICAL ASSISTANT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Shape 1"/>
          <p:cNvSpPr/>
          <p:nvPr/>
        </p:nvSpPr>
        <p:spPr>
          <a:xfrm>
            <a:off x="274320" y="731520"/>
            <a:ext cx="8595000" cy="959760"/>
          </a:xfrm>
          <a:prstGeom prst="rect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Text 2"/>
          <p:cNvSpPr/>
          <p:nvPr/>
        </p:nvSpPr>
        <p:spPr>
          <a:xfrm>
            <a:off x="274320" y="777240"/>
            <a:ext cx="85950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-1">
                <a:solidFill>
                  <a:srgbClr val="000000"/>
                </a:solidFill>
                <a:latin typeface="Calibri"/>
              </a:rPr>
              <a:t>TOP - USER INTERFACES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Shape 3"/>
          <p:cNvSpPr/>
          <p:nvPr/>
        </p:nvSpPr>
        <p:spPr>
          <a:xfrm>
            <a:off x="548640" y="1024200"/>
            <a:ext cx="2377080" cy="548280"/>
          </a:xfrm>
          <a:prstGeom prst="rect">
            <a:avLst/>
          </a:prstGeom>
          <a:solidFill>
            <a:srgbClr val="FFFFFF"/>
          </a:solidFill>
          <a:ln w="255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Text 4"/>
          <p:cNvSpPr/>
          <p:nvPr/>
        </p:nvSpPr>
        <p:spPr>
          <a:xfrm>
            <a:off x="640080" y="1069920"/>
            <a:ext cx="219420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-1">
                <a:solidFill>
                  <a:srgbClr val="000000"/>
                </a:solidFill>
                <a:latin typeface="Calibri"/>
              </a:rPr>
              <a:t>Patient Portal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Text 5"/>
          <p:cNvSpPr/>
          <p:nvPr/>
        </p:nvSpPr>
        <p:spPr>
          <a:xfrm>
            <a:off x="640080" y="1261800"/>
            <a:ext cx="21942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i="1" strike="noStrike" spc="-1">
                <a:solidFill>
                  <a:srgbClr val="000000"/>
                </a:solidFill>
                <a:latin typeface="Calibri"/>
              </a:rPr>
              <a:t>(report upload)</a:t>
            </a:r>
            <a:endParaRPr lang="en-US" sz="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Shape 6"/>
          <p:cNvSpPr/>
          <p:nvPr/>
        </p:nvSpPr>
        <p:spPr>
          <a:xfrm>
            <a:off x="3291840" y="1024200"/>
            <a:ext cx="2377080" cy="548280"/>
          </a:xfrm>
          <a:prstGeom prst="rect">
            <a:avLst/>
          </a:prstGeom>
          <a:solidFill>
            <a:srgbClr val="FFFFFF"/>
          </a:solidFill>
          <a:ln w="255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Text 7"/>
          <p:cNvSpPr/>
          <p:nvPr/>
        </p:nvSpPr>
        <p:spPr>
          <a:xfrm>
            <a:off x="3383280" y="1069920"/>
            <a:ext cx="219420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-1">
                <a:solidFill>
                  <a:srgbClr val="000000"/>
                </a:solidFill>
                <a:latin typeface="Calibri"/>
              </a:rPr>
              <a:t>Doctor Interface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Text 8"/>
          <p:cNvSpPr/>
          <p:nvPr/>
        </p:nvSpPr>
        <p:spPr>
          <a:xfrm>
            <a:off x="3383280" y="1261800"/>
            <a:ext cx="21942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i="1" strike="noStrike" spc="-1">
                <a:solidFill>
                  <a:srgbClr val="000000"/>
                </a:solidFill>
                <a:latin typeface="Calibri"/>
              </a:rPr>
              <a:t>(analysis review)</a:t>
            </a:r>
            <a:endParaRPr lang="en-US" sz="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Shape 9"/>
          <p:cNvSpPr/>
          <p:nvPr/>
        </p:nvSpPr>
        <p:spPr>
          <a:xfrm>
            <a:off x="6035040" y="1024200"/>
            <a:ext cx="2377080" cy="548280"/>
          </a:xfrm>
          <a:prstGeom prst="rect">
            <a:avLst/>
          </a:prstGeom>
          <a:solidFill>
            <a:srgbClr val="FFFFFF"/>
          </a:solidFill>
          <a:ln w="255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Text 10"/>
          <p:cNvSpPr/>
          <p:nvPr/>
        </p:nvSpPr>
        <p:spPr>
          <a:xfrm>
            <a:off x="6126480" y="1069920"/>
            <a:ext cx="219420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-1">
                <a:solidFill>
                  <a:srgbClr val="000000"/>
                </a:solidFill>
                <a:latin typeface="Calibri"/>
              </a:rPr>
              <a:t>Admin Console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Text 11"/>
          <p:cNvSpPr/>
          <p:nvPr/>
        </p:nvSpPr>
        <p:spPr>
          <a:xfrm>
            <a:off x="6126480" y="1261800"/>
            <a:ext cx="21942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i="1" strike="noStrike" spc="-1">
                <a:solidFill>
                  <a:srgbClr val="000000"/>
                </a:solidFill>
                <a:latin typeface="Calibri"/>
              </a:rPr>
              <a:t>(system management)</a:t>
            </a:r>
            <a:endParaRPr lang="en-US" sz="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Text 12"/>
          <p:cNvSpPr/>
          <p:nvPr/>
        </p:nvSpPr>
        <p:spPr>
          <a:xfrm>
            <a:off x="1188720" y="1645920"/>
            <a:ext cx="9140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0" strike="noStrike" spc="-1">
                <a:solidFill>
                  <a:srgbClr val="000000"/>
                </a:solidFill>
                <a:latin typeface="Calibri"/>
              </a:rPr>
              <a:t>PDF/Image\nFiles</a:t>
            </a:r>
            <a:endParaRPr lang="en-US" sz="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Text 13"/>
          <p:cNvSpPr/>
          <p:nvPr/>
        </p:nvSpPr>
        <p:spPr>
          <a:xfrm>
            <a:off x="3931920" y="1645920"/>
            <a:ext cx="9140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0" strike="noStrike" spc="-1">
                <a:solidFill>
                  <a:srgbClr val="000000"/>
                </a:solidFill>
                <a:latin typeface="Calibri"/>
              </a:rPr>
              <a:t>Lab Report\nData</a:t>
            </a:r>
            <a:endParaRPr lang="en-US" sz="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Text 14"/>
          <p:cNvSpPr/>
          <p:nvPr/>
        </p:nvSpPr>
        <p:spPr>
          <a:xfrm>
            <a:off x="6675120" y="1645920"/>
            <a:ext cx="9140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0" strike="noStrike" spc="-1">
                <a:solidFill>
                  <a:srgbClr val="000000"/>
                </a:solidFill>
                <a:latin typeface="Calibri"/>
              </a:rPr>
              <a:t>Analysis\nRequests</a:t>
            </a:r>
            <a:endParaRPr lang="en-US" sz="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Shape 15"/>
          <p:cNvSpPr/>
          <p:nvPr/>
        </p:nvSpPr>
        <p:spPr>
          <a:xfrm>
            <a:off x="1645920" y="1709640"/>
            <a:ext cx="360" cy="182880"/>
          </a:xfrm>
          <a:prstGeom prst="line">
            <a:avLst/>
          </a:prstGeom>
          <a:ln w="25560">
            <a:solidFill>
              <a:srgbClr val="000000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Shape 16"/>
          <p:cNvSpPr/>
          <p:nvPr/>
        </p:nvSpPr>
        <p:spPr>
          <a:xfrm>
            <a:off x="4389120" y="1709640"/>
            <a:ext cx="360" cy="182880"/>
          </a:xfrm>
          <a:prstGeom prst="line">
            <a:avLst/>
          </a:prstGeom>
          <a:ln w="25560">
            <a:solidFill>
              <a:srgbClr val="000000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Shape 17"/>
          <p:cNvSpPr/>
          <p:nvPr/>
        </p:nvSpPr>
        <p:spPr>
          <a:xfrm>
            <a:off x="7132320" y="1709640"/>
            <a:ext cx="360" cy="182880"/>
          </a:xfrm>
          <a:prstGeom prst="line">
            <a:avLst/>
          </a:prstGeom>
          <a:ln w="25560">
            <a:solidFill>
              <a:srgbClr val="000000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Shape 18"/>
          <p:cNvSpPr/>
          <p:nvPr/>
        </p:nvSpPr>
        <p:spPr>
          <a:xfrm>
            <a:off x="274320" y="1965960"/>
            <a:ext cx="8595000" cy="1279800"/>
          </a:xfrm>
          <a:prstGeom prst="rect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Text 19"/>
          <p:cNvSpPr/>
          <p:nvPr/>
        </p:nvSpPr>
        <p:spPr>
          <a:xfrm>
            <a:off x="274320" y="2011680"/>
            <a:ext cx="85950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-1">
                <a:solidFill>
                  <a:srgbClr val="000000"/>
                </a:solidFill>
                <a:latin typeface="Calibri"/>
              </a:rPr>
              <a:t>MIDDLE - AI MODULES &amp; LANGGRAPH AGENTS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Shape 20"/>
          <p:cNvSpPr/>
          <p:nvPr/>
        </p:nvSpPr>
        <p:spPr>
          <a:xfrm>
            <a:off x="548640" y="2286000"/>
            <a:ext cx="2377080" cy="822600"/>
          </a:xfrm>
          <a:prstGeom prst="rect">
            <a:avLst/>
          </a:prstGeom>
          <a:solidFill>
            <a:srgbClr val="FFFFFF"/>
          </a:solidFill>
          <a:ln w="255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Text 21"/>
          <p:cNvSpPr/>
          <p:nvPr/>
        </p:nvSpPr>
        <p:spPr>
          <a:xfrm>
            <a:off x="640080" y="2359080"/>
            <a:ext cx="219420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strike="noStrike" spc="-1">
                <a:solidFill>
                  <a:srgbClr val="000000"/>
                </a:solidFill>
                <a:latin typeface="Calibri"/>
              </a:rPr>
              <a:t>Document Processor</a:t>
            </a: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Text 22"/>
          <p:cNvSpPr/>
          <p:nvPr/>
        </p:nvSpPr>
        <p:spPr>
          <a:xfrm>
            <a:off x="640080" y="2541960"/>
            <a:ext cx="219420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0" i="1" strike="noStrike" spc="-1">
                <a:solidFill>
                  <a:srgbClr val="000000"/>
                </a:solidFill>
                <a:latin typeface="Calibri"/>
              </a:rPr>
              <a:t>(OCR + extraction)</a:t>
            </a:r>
            <a:endParaRPr lang="en-US" sz="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Text 23"/>
          <p:cNvSpPr/>
          <p:nvPr/>
        </p:nvSpPr>
        <p:spPr>
          <a:xfrm>
            <a:off x="685800" y="2743200"/>
            <a:ext cx="210276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0" strike="noStrike" spc="-1">
                <a:solidFill>
                  <a:srgbClr val="000000"/>
                </a:solidFill>
                <a:latin typeface="Calibri"/>
              </a:rPr>
              <a:t>PDF Parser • OCR Engine • Text Extraction</a:t>
            </a:r>
            <a:endParaRPr lang="en-US" sz="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Shape 24"/>
          <p:cNvSpPr/>
          <p:nvPr/>
        </p:nvSpPr>
        <p:spPr>
          <a:xfrm>
            <a:off x="3291840" y="2286000"/>
            <a:ext cx="2377080" cy="822600"/>
          </a:xfrm>
          <a:prstGeom prst="rect">
            <a:avLst/>
          </a:prstGeom>
          <a:solidFill>
            <a:srgbClr val="FFFFFF"/>
          </a:solidFill>
          <a:ln w="255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Text 25"/>
          <p:cNvSpPr/>
          <p:nvPr/>
        </p:nvSpPr>
        <p:spPr>
          <a:xfrm>
            <a:off x="3383280" y="2359080"/>
            <a:ext cx="219420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strike="noStrike" spc="-1">
                <a:solidFill>
                  <a:srgbClr val="000000"/>
                </a:solidFill>
                <a:latin typeface="Calibri"/>
              </a:rPr>
              <a:t>Value Extractor</a:t>
            </a: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Text 26"/>
          <p:cNvSpPr/>
          <p:nvPr/>
        </p:nvSpPr>
        <p:spPr>
          <a:xfrm>
            <a:off x="3383280" y="2541960"/>
            <a:ext cx="219420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0" i="1" strike="noStrike" spc="-1">
                <a:solidFill>
                  <a:srgbClr val="000000"/>
                </a:solidFill>
                <a:latin typeface="Calibri"/>
              </a:rPr>
              <a:t>(biomarker detection)</a:t>
            </a:r>
            <a:endParaRPr lang="en-US" sz="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Text 27"/>
          <p:cNvSpPr/>
          <p:nvPr/>
        </p:nvSpPr>
        <p:spPr>
          <a:xfrm>
            <a:off x="3429000" y="2743200"/>
            <a:ext cx="210276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0" strike="noStrike" spc="-1">
                <a:solidFill>
                  <a:srgbClr val="000000"/>
                </a:solidFill>
                <a:latin typeface="Calibri"/>
              </a:rPr>
              <a:t>Pattern Matching • NER Model • Unit Normalization</a:t>
            </a:r>
            <a:endParaRPr lang="en-US" sz="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Shape 28"/>
          <p:cNvSpPr/>
          <p:nvPr/>
        </p:nvSpPr>
        <p:spPr>
          <a:xfrm>
            <a:off x="6035040" y="2286000"/>
            <a:ext cx="2377080" cy="822600"/>
          </a:xfrm>
          <a:prstGeom prst="rect">
            <a:avLst/>
          </a:prstGeom>
          <a:solidFill>
            <a:srgbClr val="FFFFFF"/>
          </a:solidFill>
          <a:ln w="255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Text 29"/>
          <p:cNvSpPr/>
          <p:nvPr/>
        </p:nvSpPr>
        <p:spPr>
          <a:xfrm>
            <a:off x="6126480" y="2359080"/>
            <a:ext cx="219420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strike="noStrike" spc="-1">
                <a:solidFill>
                  <a:srgbClr val="000000"/>
                </a:solidFill>
                <a:latin typeface="Calibri"/>
              </a:rPr>
              <a:t>Health Analyzer</a:t>
            </a: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Text 30"/>
          <p:cNvSpPr/>
          <p:nvPr/>
        </p:nvSpPr>
        <p:spPr>
          <a:xfrm>
            <a:off x="6126480" y="2541960"/>
            <a:ext cx="219420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0" i="1" strike="noStrike" spc="-1">
                <a:solidFill>
                  <a:srgbClr val="000000"/>
                </a:solidFill>
                <a:latin typeface="Calibri"/>
              </a:rPr>
              <a:t>(severity classification)</a:t>
            </a:r>
            <a:endParaRPr lang="en-US" sz="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Text 31"/>
          <p:cNvSpPr/>
          <p:nvPr/>
        </p:nvSpPr>
        <p:spPr>
          <a:xfrm>
            <a:off x="6172200" y="2743200"/>
            <a:ext cx="210276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0" strike="noStrike" spc="-1">
                <a:solidFill>
                  <a:srgbClr val="000000"/>
                </a:solidFill>
                <a:latin typeface="Calibri"/>
              </a:rPr>
              <a:t>Rule Engine • ML Classifier • Risk Assessment</a:t>
            </a:r>
            <a:endParaRPr lang="en-US" sz="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Text 32"/>
          <p:cNvSpPr/>
          <p:nvPr/>
        </p:nvSpPr>
        <p:spPr>
          <a:xfrm>
            <a:off x="822960" y="3200400"/>
            <a:ext cx="8226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" b="0" strike="noStrike" spc="-1">
                <a:solidFill>
                  <a:srgbClr val="000000"/>
                </a:solidFill>
                <a:latin typeface="Calibri"/>
              </a:rPr>
              <a:t>Extracted\nText</a:t>
            </a:r>
            <a:endParaRPr lang="en-US" sz="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Text 33"/>
          <p:cNvSpPr/>
          <p:nvPr/>
        </p:nvSpPr>
        <p:spPr>
          <a:xfrm>
            <a:off x="2103120" y="3200400"/>
            <a:ext cx="8226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" b="0" strike="noStrike" spc="-1">
                <a:solidFill>
                  <a:srgbClr val="000000"/>
                </a:solidFill>
                <a:latin typeface="Calibri"/>
              </a:rPr>
              <a:t>Parsed\nValues</a:t>
            </a:r>
            <a:endParaRPr lang="en-US" sz="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Text 34"/>
          <p:cNvSpPr/>
          <p:nvPr/>
        </p:nvSpPr>
        <p:spPr>
          <a:xfrm>
            <a:off x="3566160" y="3200400"/>
            <a:ext cx="8226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" b="0" strike="noStrike" spc="-1">
                <a:solidFill>
                  <a:srgbClr val="000000"/>
                </a:solidFill>
                <a:latin typeface="Calibri"/>
              </a:rPr>
              <a:t>Medical\nTerms</a:t>
            </a:r>
            <a:endParaRPr lang="en-US" sz="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Text 35"/>
          <p:cNvSpPr/>
          <p:nvPr/>
        </p:nvSpPr>
        <p:spPr>
          <a:xfrm>
            <a:off x="4846320" y="3200400"/>
            <a:ext cx="8226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" b="0" strike="noStrike" spc="-1">
                <a:solidFill>
                  <a:srgbClr val="000000"/>
                </a:solidFill>
                <a:latin typeface="Calibri"/>
              </a:rPr>
              <a:t>Predictions\n&amp; Scores</a:t>
            </a:r>
            <a:endParaRPr lang="en-US" sz="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Text 36"/>
          <p:cNvSpPr/>
          <p:nvPr/>
        </p:nvSpPr>
        <p:spPr>
          <a:xfrm>
            <a:off x="6309360" y="3200400"/>
            <a:ext cx="8226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" b="0" strike="noStrike" spc="-1">
                <a:solidFill>
                  <a:srgbClr val="000000"/>
                </a:solidFill>
                <a:latin typeface="Calibri"/>
              </a:rPr>
              <a:t>Training\nRequests</a:t>
            </a:r>
            <a:endParaRPr lang="en-US" sz="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Text 37"/>
          <p:cNvSpPr/>
          <p:nvPr/>
        </p:nvSpPr>
        <p:spPr>
          <a:xfrm>
            <a:off x="7589520" y="3200400"/>
            <a:ext cx="8226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" b="0" strike="noStrike" spc="-1">
                <a:solidFill>
                  <a:srgbClr val="000000"/>
                </a:solidFill>
                <a:latin typeface="Calibri"/>
              </a:rPr>
              <a:t>Explanations\n&amp; Context</a:t>
            </a:r>
            <a:endParaRPr lang="en-US" sz="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Shape 38"/>
          <p:cNvSpPr/>
          <p:nvPr/>
        </p:nvSpPr>
        <p:spPr>
          <a:xfrm>
            <a:off x="1234440" y="3264120"/>
            <a:ext cx="360" cy="164880"/>
          </a:xfrm>
          <a:prstGeom prst="line">
            <a:avLst/>
          </a:prstGeom>
          <a:ln w="25560">
            <a:solidFill>
              <a:srgbClr val="000000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Shape 39"/>
          <p:cNvSpPr/>
          <p:nvPr/>
        </p:nvSpPr>
        <p:spPr>
          <a:xfrm>
            <a:off x="2514600" y="3264120"/>
            <a:ext cx="360" cy="164880"/>
          </a:xfrm>
          <a:prstGeom prst="line">
            <a:avLst/>
          </a:prstGeom>
          <a:ln w="25560">
            <a:solidFill>
              <a:srgbClr val="000000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Shape 40"/>
          <p:cNvSpPr/>
          <p:nvPr/>
        </p:nvSpPr>
        <p:spPr>
          <a:xfrm>
            <a:off x="3977640" y="3264120"/>
            <a:ext cx="360" cy="164880"/>
          </a:xfrm>
          <a:prstGeom prst="line">
            <a:avLst/>
          </a:prstGeom>
          <a:ln w="25560">
            <a:solidFill>
              <a:srgbClr val="000000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Shape 41"/>
          <p:cNvSpPr/>
          <p:nvPr/>
        </p:nvSpPr>
        <p:spPr>
          <a:xfrm>
            <a:off x="5257800" y="3264120"/>
            <a:ext cx="360" cy="164880"/>
          </a:xfrm>
          <a:prstGeom prst="line">
            <a:avLst/>
          </a:prstGeom>
          <a:ln w="25560">
            <a:solidFill>
              <a:srgbClr val="000000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Shape 42"/>
          <p:cNvSpPr/>
          <p:nvPr/>
        </p:nvSpPr>
        <p:spPr>
          <a:xfrm>
            <a:off x="6720840" y="3264120"/>
            <a:ext cx="360" cy="164880"/>
          </a:xfrm>
          <a:prstGeom prst="line">
            <a:avLst/>
          </a:prstGeom>
          <a:ln w="25560">
            <a:solidFill>
              <a:srgbClr val="000000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Shape 43"/>
          <p:cNvSpPr/>
          <p:nvPr/>
        </p:nvSpPr>
        <p:spPr>
          <a:xfrm>
            <a:off x="8001000" y="3264120"/>
            <a:ext cx="360" cy="164880"/>
          </a:xfrm>
          <a:prstGeom prst="line">
            <a:avLst/>
          </a:prstGeom>
          <a:ln w="25560">
            <a:solidFill>
              <a:srgbClr val="000000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Shape 44"/>
          <p:cNvSpPr/>
          <p:nvPr/>
        </p:nvSpPr>
        <p:spPr>
          <a:xfrm>
            <a:off x="274320" y="3520440"/>
            <a:ext cx="8595000" cy="1005480"/>
          </a:xfrm>
          <a:prstGeom prst="rect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Text 45"/>
          <p:cNvSpPr/>
          <p:nvPr/>
        </p:nvSpPr>
        <p:spPr>
          <a:xfrm>
            <a:off x="274320" y="3566160"/>
            <a:ext cx="85950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-1">
                <a:solidFill>
                  <a:srgbClr val="000000"/>
                </a:solidFill>
                <a:latin typeface="Calibri"/>
              </a:rPr>
              <a:t>BOTTOM - DATA LAYER &amp; AI MODELS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Shape 46"/>
          <p:cNvSpPr/>
          <p:nvPr/>
        </p:nvSpPr>
        <p:spPr>
          <a:xfrm>
            <a:off x="640080" y="3840480"/>
            <a:ext cx="1919880" cy="566640"/>
          </a:xfrm>
          <a:prstGeom prst="rect">
            <a:avLst/>
          </a:prstGeom>
          <a:solidFill>
            <a:srgbClr val="FFFFFF"/>
          </a:solidFill>
          <a:ln w="255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Text 47"/>
          <p:cNvSpPr/>
          <p:nvPr/>
        </p:nvSpPr>
        <p:spPr>
          <a:xfrm>
            <a:off x="731520" y="3931920"/>
            <a:ext cx="173700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strike="noStrike" spc="-1">
                <a:solidFill>
                  <a:srgbClr val="000000"/>
                </a:solidFill>
                <a:latin typeface="Calibri"/>
              </a:rPr>
              <a:t>Medical DB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Text 48"/>
          <p:cNvSpPr/>
          <p:nvPr/>
        </p:nvSpPr>
        <p:spPr>
          <a:xfrm>
            <a:off x="731520" y="4133160"/>
            <a:ext cx="17370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0" i="1" strike="noStrike" spc="-1">
                <a:solidFill>
                  <a:srgbClr val="000000"/>
                </a:solidFill>
                <a:latin typeface="Calibri"/>
              </a:rPr>
              <a:t>(patient records)</a:t>
            </a:r>
            <a:endParaRPr lang="en-US" sz="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Shape 49"/>
          <p:cNvSpPr/>
          <p:nvPr/>
        </p:nvSpPr>
        <p:spPr>
          <a:xfrm>
            <a:off x="2834640" y="3840480"/>
            <a:ext cx="1919880" cy="566640"/>
          </a:xfrm>
          <a:prstGeom prst="rect">
            <a:avLst/>
          </a:prstGeom>
          <a:solidFill>
            <a:srgbClr val="FFFFFF"/>
          </a:solidFill>
          <a:ln w="255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Text 50"/>
          <p:cNvSpPr/>
          <p:nvPr/>
        </p:nvSpPr>
        <p:spPr>
          <a:xfrm>
            <a:off x="2926080" y="3931920"/>
            <a:ext cx="173700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strike="noStrike" spc="-1">
                <a:solidFill>
                  <a:srgbClr val="000000"/>
                </a:solidFill>
                <a:latin typeface="Calibri"/>
              </a:rPr>
              <a:t>Vector Store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Text 51"/>
          <p:cNvSpPr/>
          <p:nvPr/>
        </p:nvSpPr>
        <p:spPr>
          <a:xfrm>
            <a:off x="2926080" y="4133160"/>
            <a:ext cx="17370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0" i="1" strike="noStrike" spc="-1">
                <a:solidFill>
                  <a:srgbClr val="000000"/>
                </a:solidFill>
                <a:latin typeface="Calibri"/>
              </a:rPr>
              <a:t>(embeddings)</a:t>
            </a:r>
            <a:endParaRPr lang="en-US" sz="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Shape 52"/>
          <p:cNvSpPr/>
          <p:nvPr/>
        </p:nvSpPr>
        <p:spPr>
          <a:xfrm>
            <a:off x="5029200" y="3840480"/>
            <a:ext cx="1919880" cy="566640"/>
          </a:xfrm>
          <a:prstGeom prst="rect">
            <a:avLst/>
          </a:prstGeom>
          <a:solidFill>
            <a:srgbClr val="FFFFFF"/>
          </a:solidFill>
          <a:ln w="255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Text 53"/>
          <p:cNvSpPr/>
          <p:nvPr/>
        </p:nvSpPr>
        <p:spPr>
          <a:xfrm>
            <a:off x="5120640" y="3931920"/>
            <a:ext cx="173700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strike="noStrike" spc="-1">
                <a:solidFill>
                  <a:srgbClr val="000000"/>
                </a:solidFill>
                <a:latin typeface="Calibri"/>
              </a:rPr>
              <a:t>XGBoost Model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Text 54"/>
          <p:cNvSpPr/>
          <p:nvPr/>
        </p:nvSpPr>
        <p:spPr>
          <a:xfrm>
            <a:off x="5120640" y="4133160"/>
            <a:ext cx="17370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0" i="1" strike="noStrike" spc="-1">
                <a:solidFill>
                  <a:srgbClr val="000000"/>
                </a:solidFill>
                <a:latin typeface="Calibri"/>
              </a:rPr>
              <a:t>(severity classifier)</a:t>
            </a:r>
            <a:endParaRPr lang="en-US" sz="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Shape 55"/>
          <p:cNvSpPr/>
          <p:nvPr/>
        </p:nvSpPr>
        <p:spPr>
          <a:xfrm>
            <a:off x="7223760" y="3840480"/>
            <a:ext cx="1554120" cy="566640"/>
          </a:xfrm>
          <a:prstGeom prst="rect">
            <a:avLst/>
          </a:prstGeom>
          <a:solidFill>
            <a:srgbClr val="FFFFFF"/>
          </a:solidFill>
          <a:ln w="255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Text 56"/>
          <p:cNvSpPr/>
          <p:nvPr/>
        </p:nvSpPr>
        <p:spPr>
          <a:xfrm>
            <a:off x="7315200" y="3931920"/>
            <a:ext cx="13712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strike="noStrike" spc="-1">
                <a:solidFill>
                  <a:srgbClr val="000000"/>
                </a:solidFill>
                <a:latin typeface="Calibri"/>
              </a:rPr>
              <a:t>LLM Engine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Text 57"/>
          <p:cNvSpPr/>
          <p:nvPr/>
        </p:nvSpPr>
        <p:spPr>
          <a:xfrm>
            <a:off x="7315200" y="4133160"/>
            <a:ext cx="137124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0" i="1" strike="noStrike" spc="-1">
                <a:solidFill>
                  <a:srgbClr val="000000"/>
                </a:solidFill>
                <a:latin typeface="Calibri"/>
              </a:rPr>
              <a:t>(explanation generator)</a:t>
            </a:r>
            <a:endParaRPr lang="en-US" sz="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Shape 58"/>
          <p:cNvSpPr/>
          <p:nvPr/>
        </p:nvSpPr>
        <p:spPr>
          <a:xfrm flipV="1">
            <a:off x="1371600" y="3108960"/>
            <a:ext cx="360" cy="685800"/>
          </a:xfrm>
          <a:prstGeom prst="line">
            <a:avLst/>
          </a:prstGeom>
          <a:ln w="19080">
            <a:solidFill>
              <a:srgbClr val="000000"/>
            </a:solidFill>
            <a:prstDash val="dash"/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Shape 59"/>
          <p:cNvSpPr/>
          <p:nvPr/>
        </p:nvSpPr>
        <p:spPr>
          <a:xfrm flipV="1">
            <a:off x="3657600" y="3108960"/>
            <a:ext cx="360" cy="685800"/>
          </a:xfrm>
          <a:prstGeom prst="line">
            <a:avLst/>
          </a:prstGeom>
          <a:ln w="19080">
            <a:solidFill>
              <a:srgbClr val="000000"/>
            </a:solidFill>
            <a:prstDash val="dash"/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Shape 60"/>
          <p:cNvSpPr/>
          <p:nvPr/>
        </p:nvSpPr>
        <p:spPr>
          <a:xfrm flipV="1">
            <a:off x="5943600" y="3108960"/>
            <a:ext cx="360" cy="685800"/>
          </a:xfrm>
          <a:prstGeom prst="line">
            <a:avLst/>
          </a:prstGeom>
          <a:ln w="19080">
            <a:solidFill>
              <a:srgbClr val="000000"/>
            </a:solidFill>
            <a:prstDash val="dash"/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Shape 61"/>
          <p:cNvSpPr/>
          <p:nvPr/>
        </p:nvSpPr>
        <p:spPr>
          <a:xfrm flipV="1">
            <a:off x="7955280" y="3108960"/>
            <a:ext cx="360" cy="685800"/>
          </a:xfrm>
          <a:prstGeom prst="line">
            <a:avLst/>
          </a:prstGeom>
          <a:ln w="19080">
            <a:solidFill>
              <a:srgbClr val="000000"/>
            </a:solidFill>
            <a:prstDash val="dash"/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Text 62"/>
          <p:cNvSpPr/>
          <p:nvPr/>
        </p:nvSpPr>
        <p:spPr>
          <a:xfrm>
            <a:off x="457200" y="4846320"/>
            <a:ext cx="91404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strike="noStrike" spc="-1">
                <a:solidFill>
                  <a:srgbClr val="000000"/>
                </a:solidFill>
                <a:latin typeface="Calibri"/>
              </a:rPr>
              <a:t>Data Flow:</a:t>
            </a:r>
            <a:endParaRPr lang="en-US" sz="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Shape 63"/>
          <p:cNvSpPr/>
          <p:nvPr/>
        </p:nvSpPr>
        <p:spPr>
          <a:xfrm>
            <a:off x="1463040" y="4919400"/>
            <a:ext cx="365760" cy="360"/>
          </a:xfrm>
          <a:prstGeom prst="line">
            <a:avLst/>
          </a:prstGeom>
          <a:ln w="25560">
            <a:solidFill>
              <a:srgbClr val="000000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Text 64"/>
          <p:cNvSpPr/>
          <p:nvPr/>
        </p:nvSpPr>
        <p:spPr>
          <a:xfrm>
            <a:off x="1920240" y="4846320"/>
            <a:ext cx="10969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0" strike="noStrike" spc="-1">
                <a:solidFill>
                  <a:srgbClr val="000000"/>
                </a:solidFill>
                <a:latin typeface="Calibri"/>
              </a:rPr>
              <a:t>Forward Processing</a:t>
            </a:r>
            <a:endParaRPr lang="en-US" sz="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Shape 65"/>
          <p:cNvSpPr/>
          <p:nvPr/>
        </p:nvSpPr>
        <p:spPr>
          <a:xfrm>
            <a:off x="3200400" y="4919400"/>
            <a:ext cx="365760" cy="360"/>
          </a:xfrm>
          <a:prstGeom prst="line">
            <a:avLst/>
          </a:prstGeom>
          <a:ln w="19080">
            <a:solidFill>
              <a:srgbClr val="000000"/>
            </a:solidFill>
            <a:prstDash val="dash"/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Text 66"/>
          <p:cNvSpPr/>
          <p:nvPr/>
        </p:nvSpPr>
        <p:spPr>
          <a:xfrm>
            <a:off x="3657600" y="4846320"/>
            <a:ext cx="10969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0" strike="noStrike" spc="-1">
                <a:solidFill>
                  <a:srgbClr val="000000"/>
                </a:solidFill>
                <a:latin typeface="Calibri"/>
              </a:rPr>
              <a:t>Feedback/Updates</a:t>
            </a:r>
            <a:endParaRPr lang="en-US" sz="7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Text 0"/>
          <p:cNvSpPr/>
          <p:nvPr/>
        </p:nvSpPr>
        <p:spPr>
          <a:xfrm>
            <a:off x="274320" y="182880"/>
            <a:ext cx="859500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strike="noStrike" spc="-1">
                <a:solidFill>
                  <a:srgbClr val="000000"/>
                </a:solidFill>
                <a:latin typeface="Calibri"/>
              </a:rPr>
              <a:t>DATA FLOW &amp; PROCESSING PIPELINE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Shape 1"/>
          <p:cNvSpPr/>
          <p:nvPr/>
        </p:nvSpPr>
        <p:spPr>
          <a:xfrm>
            <a:off x="457200" y="914400"/>
            <a:ext cx="1828440" cy="914040"/>
          </a:xfrm>
          <a:prstGeom prst="rect">
            <a:avLst/>
          </a:prstGeom>
          <a:solidFill>
            <a:srgbClr val="FFFFFF"/>
          </a:solidFill>
          <a:ln w="255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Text 2"/>
          <p:cNvSpPr/>
          <p:nvPr/>
        </p:nvSpPr>
        <p:spPr>
          <a:xfrm>
            <a:off x="457200" y="960120"/>
            <a:ext cx="18284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-1">
                <a:solidFill>
                  <a:srgbClr val="000000"/>
                </a:solidFill>
                <a:latin typeface="Calibri"/>
              </a:rPr>
              <a:t>INPUT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" name="Text 3"/>
          <p:cNvSpPr/>
          <p:nvPr/>
        </p:nvSpPr>
        <p:spPr>
          <a:xfrm>
            <a:off x="548640" y="1234440"/>
            <a:ext cx="164556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000000"/>
                </a:solidFill>
                <a:latin typeface="Calibri"/>
              </a:rPr>
              <a:t>• Lab Report PDF\n• User Context\n• Medical History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Shape 4"/>
          <p:cNvSpPr/>
          <p:nvPr/>
        </p:nvSpPr>
        <p:spPr>
          <a:xfrm>
            <a:off x="2286000" y="1371600"/>
            <a:ext cx="731520" cy="360"/>
          </a:xfrm>
          <a:prstGeom prst="line">
            <a:avLst/>
          </a:prstGeom>
          <a:ln w="38160">
            <a:solidFill>
              <a:srgbClr val="000000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Shape 5"/>
          <p:cNvSpPr/>
          <p:nvPr/>
        </p:nvSpPr>
        <p:spPr>
          <a:xfrm>
            <a:off x="3017520" y="914400"/>
            <a:ext cx="1828440" cy="914040"/>
          </a:xfrm>
          <a:prstGeom prst="rect">
            <a:avLst/>
          </a:prstGeom>
          <a:solidFill>
            <a:srgbClr val="FFFFFF"/>
          </a:solidFill>
          <a:ln w="255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Text 6"/>
          <p:cNvSpPr/>
          <p:nvPr/>
        </p:nvSpPr>
        <p:spPr>
          <a:xfrm>
            <a:off x="3017520" y="960120"/>
            <a:ext cx="18284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-1">
                <a:solidFill>
                  <a:srgbClr val="000000"/>
                </a:solidFill>
                <a:latin typeface="Calibri"/>
              </a:rPr>
              <a:t>PREPROCESSING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" name="Text 7"/>
          <p:cNvSpPr/>
          <p:nvPr/>
        </p:nvSpPr>
        <p:spPr>
          <a:xfrm>
            <a:off x="3108960" y="1234440"/>
            <a:ext cx="164556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000000"/>
                </a:solidFill>
                <a:latin typeface="Calibri"/>
              </a:rPr>
              <a:t>• OCR/Text Extract\n• Quality Check\n• Format Detection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" name="Shape 8"/>
          <p:cNvSpPr/>
          <p:nvPr/>
        </p:nvSpPr>
        <p:spPr>
          <a:xfrm>
            <a:off x="4846320" y="1371600"/>
            <a:ext cx="731520" cy="360"/>
          </a:xfrm>
          <a:prstGeom prst="line">
            <a:avLst/>
          </a:prstGeom>
          <a:ln w="38160">
            <a:solidFill>
              <a:srgbClr val="000000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Shape 9"/>
          <p:cNvSpPr/>
          <p:nvPr/>
        </p:nvSpPr>
        <p:spPr>
          <a:xfrm>
            <a:off x="5577840" y="914400"/>
            <a:ext cx="1828440" cy="914040"/>
          </a:xfrm>
          <a:prstGeom prst="rect">
            <a:avLst/>
          </a:prstGeom>
          <a:solidFill>
            <a:srgbClr val="FFFFFF"/>
          </a:solidFill>
          <a:ln w="255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Text 10"/>
          <p:cNvSpPr/>
          <p:nvPr/>
        </p:nvSpPr>
        <p:spPr>
          <a:xfrm>
            <a:off x="5577840" y="960120"/>
            <a:ext cx="18284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-1">
                <a:solidFill>
                  <a:srgbClr val="000000"/>
                </a:solidFill>
                <a:latin typeface="Calibri"/>
              </a:rPr>
              <a:t>EXTRACTION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" name="Text 11"/>
          <p:cNvSpPr/>
          <p:nvPr/>
        </p:nvSpPr>
        <p:spPr>
          <a:xfrm>
            <a:off x="5669280" y="1234440"/>
            <a:ext cx="164556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000000"/>
                </a:solidFill>
                <a:latin typeface="Calibri"/>
              </a:rPr>
              <a:t>• Parse Values\n• Extract Units\n• Find Ranges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Shape 12"/>
          <p:cNvSpPr/>
          <p:nvPr/>
        </p:nvSpPr>
        <p:spPr>
          <a:xfrm>
            <a:off x="6492240" y="1828800"/>
            <a:ext cx="360" cy="457200"/>
          </a:xfrm>
          <a:prstGeom prst="line">
            <a:avLst/>
          </a:prstGeom>
          <a:ln w="38160">
            <a:solidFill>
              <a:srgbClr val="000000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" name="Shape 13"/>
          <p:cNvSpPr/>
          <p:nvPr/>
        </p:nvSpPr>
        <p:spPr>
          <a:xfrm>
            <a:off x="5577840" y="2286000"/>
            <a:ext cx="1828440" cy="914040"/>
          </a:xfrm>
          <a:prstGeom prst="rect">
            <a:avLst/>
          </a:prstGeom>
          <a:solidFill>
            <a:srgbClr val="FFFFFF"/>
          </a:solidFill>
          <a:ln w="255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" name="Text 14"/>
          <p:cNvSpPr/>
          <p:nvPr/>
        </p:nvSpPr>
        <p:spPr>
          <a:xfrm>
            <a:off x="5577840" y="2331720"/>
            <a:ext cx="18284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-1">
                <a:solidFill>
                  <a:srgbClr val="000000"/>
                </a:solidFill>
                <a:latin typeface="Calibri"/>
              </a:rPr>
              <a:t>NORMALIZATION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" name="Text 15"/>
          <p:cNvSpPr/>
          <p:nvPr/>
        </p:nvSpPr>
        <p:spPr>
          <a:xfrm>
            <a:off x="5669280" y="2606040"/>
            <a:ext cx="164556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000000"/>
                </a:solidFill>
                <a:latin typeface="Calibri"/>
              </a:rPr>
              <a:t>• Unit Conversion\n• Synonym Mapping\n• Value Validation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" name="Shape 16"/>
          <p:cNvSpPr/>
          <p:nvPr/>
        </p:nvSpPr>
        <p:spPr>
          <a:xfrm flipH="1">
            <a:off x="4846320" y="2743200"/>
            <a:ext cx="731520" cy="360"/>
          </a:xfrm>
          <a:prstGeom prst="line">
            <a:avLst/>
          </a:prstGeom>
          <a:ln w="38160">
            <a:solidFill>
              <a:srgbClr val="000000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" name="Shape 17"/>
          <p:cNvSpPr/>
          <p:nvPr/>
        </p:nvSpPr>
        <p:spPr>
          <a:xfrm>
            <a:off x="3017520" y="2286000"/>
            <a:ext cx="1828440" cy="914040"/>
          </a:xfrm>
          <a:prstGeom prst="rect">
            <a:avLst/>
          </a:prstGeom>
          <a:solidFill>
            <a:srgbClr val="FFFFFF"/>
          </a:solidFill>
          <a:ln w="255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Text 18"/>
          <p:cNvSpPr/>
          <p:nvPr/>
        </p:nvSpPr>
        <p:spPr>
          <a:xfrm>
            <a:off x="3017520" y="2331720"/>
            <a:ext cx="18284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-1">
                <a:solidFill>
                  <a:srgbClr val="000000"/>
                </a:solidFill>
                <a:latin typeface="Calibri"/>
              </a:rPr>
              <a:t>CLASSIFICATION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" name="Text 19"/>
          <p:cNvSpPr/>
          <p:nvPr/>
        </p:nvSpPr>
        <p:spPr>
          <a:xfrm>
            <a:off x="3108960" y="2606040"/>
            <a:ext cx="164556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000000"/>
                </a:solidFill>
                <a:latin typeface="Calibri"/>
              </a:rPr>
              <a:t>• Rule Engine\n• ML Classifier\n• Hybrid Resolver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" name="Shape 20"/>
          <p:cNvSpPr/>
          <p:nvPr/>
        </p:nvSpPr>
        <p:spPr>
          <a:xfrm flipH="1">
            <a:off x="2286000" y="2743200"/>
            <a:ext cx="731520" cy="360"/>
          </a:xfrm>
          <a:prstGeom prst="line">
            <a:avLst/>
          </a:prstGeom>
          <a:ln w="38160">
            <a:solidFill>
              <a:srgbClr val="000000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" name="Shape 21"/>
          <p:cNvSpPr/>
          <p:nvPr/>
        </p:nvSpPr>
        <p:spPr>
          <a:xfrm>
            <a:off x="457200" y="2286000"/>
            <a:ext cx="1828440" cy="914040"/>
          </a:xfrm>
          <a:prstGeom prst="rect">
            <a:avLst/>
          </a:prstGeom>
          <a:solidFill>
            <a:srgbClr val="FFFFFF"/>
          </a:solidFill>
          <a:ln w="255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" name="Text 22"/>
          <p:cNvSpPr/>
          <p:nvPr/>
        </p:nvSpPr>
        <p:spPr>
          <a:xfrm>
            <a:off x="457200" y="2331720"/>
            <a:ext cx="18284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-1">
                <a:solidFill>
                  <a:srgbClr val="000000"/>
                </a:solidFill>
                <a:latin typeface="Calibri"/>
              </a:rPr>
              <a:t>EXPLANATION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" name="Text 23"/>
          <p:cNvSpPr/>
          <p:nvPr/>
        </p:nvSpPr>
        <p:spPr>
          <a:xfrm>
            <a:off x="548640" y="2606040"/>
            <a:ext cx="164556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000000"/>
                </a:solidFill>
                <a:latin typeface="Calibri"/>
              </a:rPr>
              <a:t>• Generate Text\n• Add Context\n• Medical Advice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" name="Shape 24"/>
          <p:cNvSpPr/>
          <p:nvPr/>
        </p:nvSpPr>
        <p:spPr>
          <a:xfrm>
            <a:off x="1371600" y="3200400"/>
            <a:ext cx="360" cy="457200"/>
          </a:xfrm>
          <a:prstGeom prst="line">
            <a:avLst/>
          </a:prstGeom>
          <a:ln w="38160">
            <a:solidFill>
              <a:srgbClr val="000000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" name="Shape 25"/>
          <p:cNvSpPr/>
          <p:nvPr/>
        </p:nvSpPr>
        <p:spPr>
          <a:xfrm>
            <a:off x="457200" y="3657600"/>
            <a:ext cx="1828440" cy="914040"/>
          </a:xfrm>
          <a:prstGeom prst="rect">
            <a:avLst/>
          </a:prstGeom>
          <a:solidFill>
            <a:srgbClr val="FFFFFF"/>
          </a:solidFill>
          <a:ln w="255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" name="Text 26"/>
          <p:cNvSpPr/>
          <p:nvPr/>
        </p:nvSpPr>
        <p:spPr>
          <a:xfrm>
            <a:off x="457200" y="3703320"/>
            <a:ext cx="18284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-1">
                <a:solidFill>
                  <a:srgbClr val="000000"/>
                </a:solidFill>
                <a:latin typeface="Calibri"/>
              </a:rPr>
              <a:t>OUTPUT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" name="Text 27"/>
          <p:cNvSpPr/>
          <p:nvPr/>
        </p:nvSpPr>
        <p:spPr>
          <a:xfrm>
            <a:off x="548640" y="3977640"/>
            <a:ext cx="164556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000000"/>
                </a:solidFill>
                <a:latin typeface="Calibri"/>
              </a:rPr>
              <a:t>• Severity Report\n• Recommendations\n• Next Steps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" name="Shape 28"/>
          <p:cNvSpPr/>
          <p:nvPr/>
        </p:nvSpPr>
        <p:spPr>
          <a:xfrm>
            <a:off x="7589520" y="1371600"/>
            <a:ext cx="1279800" cy="2742840"/>
          </a:xfrm>
          <a:prstGeom prst="rect">
            <a:avLst/>
          </a:prstGeom>
          <a:solidFill>
            <a:srgbClr val="FFFFFF"/>
          </a:solidFill>
          <a:ln w="255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" name="Text 29"/>
          <p:cNvSpPr/>
          <p:nvPr/>
        </p:nvSpPr>
        <p:spPr>
          <a:xfrm>
            <a:off x="7589520" y="1463040"/>
            <a:ext cx="12798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-1">
                <a:solidFill>
                  <a:srgbClr val="000000"/>
                </a:solidFill>
                <a:latin typeface="Calibri"/>
              </a:rPr>
              <a:t>ML MODELS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" name="Shape 30"/>
          <p:cNvSpPr/>
          <p:nvPr/>
        </p:nvSpPr>
        <p:spPr>
          <a:xfrm>
            <a:off x="7680960" y="1828800"/>
            <a:ext cx="1096920" cy="456840"/>
          </a:xfrm>
          <a:prstGeom prst="rect">
            <a:avLst/>
          </a:prstGeom>
          <a:solidFill>
            <a:srgbClr val="FFFFFF"/>
          </a:solidFill>
          <a:ln w="1260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" name="Text 31"/>
          <p:cNvSpPr/>
          <p:nvPr/>
        </p:nvSpPr>
        <p:spPr>
          <a:xfrm>
            <a:off x="7680960" y="1828800"/>
            <a:ext cx="109692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strike="noStrike" spc="-1">
                <a:solidFill>
                  <a:srgbClr val="000000"/>
                </a:solidFill>
                <a:latin typeface="Calibri"/>
              </a:rPr>
              <a:t>XGBoost\nClassifier</a:t>
            </a:r>
            <a:endParaRPr lang="en-US" sz="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" name="Shape 32"/>
          <p:cNvSpPr/>
          <p:nvPr/>
        </p:nvSpPr>
        <p:spPr>
          <a:xfrm>
            <a:off x="7680960" y="2377440"/>
            <a:ext cx="1096920" cy="456840"/>
          </a:xfrm>
          <a:prstGeom prst="rect">
            <a:avLst/>
          </a:prstGeom>
          <a:solidFill>
            <a:srgbClr val="FFFFFF"/>
          </a:solidFill>
          <a:ln w="1260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" name="Text 33"/>
          <p:cNvSpPr/>
          <p:nvPr/>
        </p:nvSpPr>
        <p:spPr>
          <a:xfrm>
            <a:off x="7680960" y="2377440"/>
            <a:ext cx="109692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strike="noStrike" spc="-1">
                <a:solidFill>
                  <a:srgbClr val="000000"/>
                </a:solidFill>
                <a:latin typeface="Calibri"/>
              </a:rPr>
              <a:t>Random\nForest</a:t>
            </a:r>
            <a:endParaRPr lang="en-US" sz="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7" name="Shape 34"/>
          <p:cNvSpPr/>
          <p:nvPr/>
        </p:nvSpPr>
        <p:spPr>
          <a:xfrm>
            <a:off x="7680960" y="2926080"/>
            <a:ext cx="1096920" cy="456840"/>
          </a:xfrm>
          <a:prstGeom prst="rect">
            <a:avLst/>
          </a:prstGeom>
          <a:solidFill>
            <a:srgbClr val="FFFFFF"/>
          </a:solidFill>
          <a:ln w="1260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8" name="Text 35"/>
          <p:cNvSpPr/>
          <p:nvPr/>
        </p:nvSpPr>
        <p:spPr>
          <a:xfrm>
            <a:off x="7680960" y="2926080"/>
            <a:ext cx="109692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strike="noStrike" spc="-1">
                <a:solidFill>
                  <a:srgbClr val="000000"/>
                </a:solidFill>
                <a:latin typeface="Calibri"/>
              </a:rPr>
              <a:t>NER Model</a:t>
            </a:r>
            <a:endParaRPr lang="en-US" sz="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" name="Shape 36"/>
          <p:cNvSpPr/>
          <p:nvPr/>
        </p:nvSpPr>
        <p:spPr>
          <a:xfrm>
            <a:off x="7680960" y="3474720"/>
            <a:ext cx="1096920" cy="456840"/>
          </a:xfrm>
          <a:prstGeom prst="rect">
            <a:avLst/>
          </a:prstGeom>
          <a:solidFill>
            <a:srgbClr val="FFFFFF"/>
          </a:solidFill>
          <a:ln w="1260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0" name="Text 37"/>
          <p:cNvSpPr/>
          <p:nvPr/>
        </p:nvSpPr>
        <p:spPr>
          <a:xfrm>
            <a:off x="7680960" y="3474720"/>
            <a:ext cx="109692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strike="noStrike" spc="-1">
                <a:solidFill>
                  <a:srgbClr val="000000"/>
                </a:solidFill>
                <a:latin typeface="Calibri"/>
              </a:rPr>
              <a:t>LLM\nEngine</a:t>
            </a:r>
            <a:endParaRPr lang="en-US" sz="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1" name="Shape 38"/>
          <p:cNvSpPr/>
          <p:nvPr/>
        </p:nvSpPr>
        <p:spPr>
          <a:xfrm>
            <a:off x="7406640" y="1371600"/>
            <a:ext cx="182880" cy="2103120"/>
          </a:xfrm>
          <a:prstGeom prst="line">
            <a:avLst/>
          </a:prstGeom>
          <a:ln w="19080">
            <a:solidFill>
              <a:srgbClr val="000000"/>
            </a:solidFill>
            <a:prstDash val="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2" name="Shape 39"/>
          <p:cNvSpPr/>
          <p:nvPr/>
        </p:nvSpPr>
        <p:spPr>
          <a:xfrm>
            <a:off x="7406640" y="2743200"/>
            <a:ext cx="182880" cy="2103120"/>
          </a:xfrm>
          <a:prstGeom prst="line">
            <a:avLst/>
          </a:prstGeom>
          <a:ln w="19080">
            <a:solidFill>
              <a:srgbClr val="000000"/>
            </a:solidFill>
            <a:prstDash val="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" name="Text 40"/>
          <p:cNvSpPr/>
          <p:nvPr/>
        </p:nvSpPr>
        <p:spPr>
          <a:xfrm>
            <a:off x="2743200" y="3749040"/>
            <a:ext cx="10969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strike="noStrike" spc="-1">
                <a:solidFill>
                  <a:srgbClr val="000000"/>
                </a:solidFill>
                <a:latin typeface="Calibri"/>
              </a:rPr>
              <a:t>DATA LAYER:</a:t>
            </a: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4" name="Shape 41"/>
          <p:cNvSpPr/>
          <p:nvPr/>
        </p:nvSpPr>
        <p:spPr>
          <a:xfrm>
            <a:off x="2743200" y="4023360"/>
            <a:ext cx="1005480" cy="502560"/>
          </a:xfrm>
          <a:prstGeom prst="rect">
            <a:avLst/>
          </a:prstGeom>
          <a:solidFill>
            <a:srgbClr val="FFFFFF"/>
          </a:solidFill>
          <a:ln w="1260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5" name="Text 42"/>
          <p:cNvSpPr/>
          <p:nvPr/>
        </p:nvSpPr>
        <p:spPr>
          <a:xfrm>
            <a:off x="2834640" y="4114800"/>
            <a:ext cx="82260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strike="noStrike" spc="-1">
                <a:solidFill>
                  <a:srgbClr val="000000"/>
                </a:solidFill>
                <a:latin typeface="Calibri"/>
              </a:rPr>
              <a:t>Patient DB</a:t>
            </a:r>
            <a:endParaRPr lang="en-US" sz="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" name="Shape 43"/>
          <p:cNvSpPr/>
          <p:nvPr/>
        </p:nvSpPr>
        <p:spPr>
          <a:xfrm>
            <a:off x="3931920" y="4023360"/>
            <a:ext cx="1005480" cy="502560"/>
          </a:xfrm>
          <a:prstGeom prst="rect">
            <a:avLst/>
          </a:prstGeom>
          <a:solidFill>
            <a:srgbClr val="FFFFFF"/>
          </a:solidFill>
          <a:ln w="1260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" name="Text 44"/>
          <p:cNvSpPr/>
          <p:nvPr/>
        </p:nvSpPr>
        <p:spPr>
          <a:xfrm>
            <a:off x="4023360" y="4114800"/>
            <a:ext cx="82260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strike="noStrike" spc="-1">
                <a:solidFill>
                  <a:srgbClr val="000000"/>
                </a:solidFill>
                <a:latin typeface="Calibri"/>
              </a:rPr>
              <a:t>Vector Store</a:t>
            </a:r>
            <a:endParaRPr lang="en-US" sz="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8" name="Shape 45"/>
          <p:cNvSpPr/>
          <p:nvPr/>
        </p:nvSpPr>
        <p:spPr>
          <a:xfrm>
            <a:off x="5120640" y="4023360"/>
            <a:ext cx="1005480" cy="502560"/>
          </a:xfrm>
          <a:prstGeom prst="rect">
            <a:avLst/>
          </a:prstGeom>
          <a:solidFill>
            <a:srgbClr val="FFFFFF"/>
          </a:solidFill>
          <a:ln w="1260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9" name="Text 46"/>
          <p:cNvSpPr/>
          <p:nvPr/>
        </p:nvSpPr>
        <p:spPr>
          <a:xfrm>
            <a:off x="5212080" y="4114800"/>
            <a:ext cx="82260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strike="noStrike" spc="-1">
                <a:solidFill>
                  <a:srgbClr val="000000"/>
                </a:solidFill>
                <a:latin typeface="Calibri"/>
              </a:rPr>
              <a:t>Knowledge Base</a:t>
            </a:r>
            <a:endParaRPr lang="en-US" sz="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0" name="Shape 47"/>
          <p:cNvSpPr/>
          <p:nvPr/>
        </p:nvSpPr>
        <p:spPr>
          <a:xfrm>
            <a:off x="6309360" y="4023360"/>
            <a:ext cx="1005480" cy="502560"/>
          </a:xfrm>
          <a:prstGeom prst="rect">
            <a:avLst/>
          </a:prstGeom>
          <a:solidFill>
            <a:srgbClr val="FFFFFF"/>
          </a:solidFill>
          <a:ln w="1260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1" name="Text 48"/>
          <p:cNvSpPr/>
          <p:nvPr/>
        </p:nvSpPr>
        <p:spPr>
          <a:xfrm>
            <a:off x="6400800" y="4114800"/>
            <a:ext cx="82260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strike="noStrike" spc="-1">
                <a:solidFill>
                  <a:srgbClr val="000000"/>
                </a:solidFill>
                <a:latin typeface="Calibri"/>
              </a:rPr>
              <a:t>Analytics</a:t>
            </a:r>
            <a:endParaRPr lang="en-US" sz="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Text 0"/>
          <p:cNvSpPr/>
          <p:nvPr/>
        </p:nvSpPr>
        <p:spPr>
          <a:xfrm>
            <a:off x="274320" y="182880"/>
            <a:ext cx="859500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strike="noStrike" spc="-1">
                <a:solidFill>
                  <a:srgbClr val="000000"/>
                </a:solidFill>
                <a:latin typeface="Calibri"/>
              </a:rPr>
              <a:t>USE CASE DIAGRAM</a:t>
            </a: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3" name="Shape 1"/>
          <p:cNvSpPr/>
          <p:nvPr/>
        </p:nvSpPr>
        <p:spPr>
          <a:xfrm>
            <a:off x="1828800" y="822960"/>
            <a:ext cx="5486040" cy="3931560"/>
          </a:xfrm>
          <a:prstGeom prst="rect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4" name="Text 2"/>
          <p:cNvSpPr/>
          <p:nvPr/>
        </p:nvSpPr>
        <p:spPr>
          <a:xfrm>
            <a:off x="1828800" y="86868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strike="noStrike" spc="-1">
                <a:solidFill>
                  <a:srgbClr val="000000"/>
                </a:solidFill>
                <a:latin typeface="Calibri"/>
              </a:rPr>
              <a:t>AI Medical Assistant System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5" name="Shape 3"/>
          <p:cNvSpPr/>
          <p:nvPr/>
        </p:nvSpPr>
        <p:spPr>
          <a:xfrm>
            <a:off x="2560320" y="1280160"/>
            <a:ext cx="1645560" cy="456840"/>
          </a:xfrm>
          <a:prstGeom prst="ellipse">
            <a:avLst/>
          </a:prstGeom>
          <a:solidFill>
            <a:srgbClr val="FFFFFF"/>
          </a:solidFill>
          <a:ln w="255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6" name="Text 4"/>
          <p:cNvSpPr/>
          <p:nvPr/>
        </p:nvSpPr>
        <p:spPr>
          <a:xfrm>
            <a:off x="2560320" y="1280160"/>
            <a:ext cx="164556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000000"/>
                </a:solidFill>
                <a:latin typeface="Calibri"/>
              </a:rPr>
              <a:t>Upload Lab\nReport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7" name="Shape 5"/>
          <p:cNvSpPr/>
          <p:nvPr/>
        </p:nvSpPr>
        <p:spPr>
          <a:xfrm>
            <a:off x="2560320" y="1828800"/>
            <a:ext cx="1645560" cy="456840"/>
          </a:xfrm>
          <a:prstGeom prst="ellipse">
            <a:avLst/>
          </a:prstGeom>
          <a:solidFill>
            <a:srgbClr val="FFFFFF"/>
          </a:solidFill>
          <a:ln w="255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8" name="Text 6"/>
          <p:cNvSpPr/>
          <p:nvPr/>
        </p:nvSpPr>
        <p:spPr>
          <a:xfrm>
            <a:off x="2560320" y="1828800"/>
            <a:ext cx="164556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000000"/>
                </a:solidFill>
                <a:latin typeface="Calibri"/>
              </a:rPr>
              <a:t>Extract Test\nValues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9" name="Shape 7"/>
          <p:cNvSpPr/>
          <p:nvPr/>
        </p:nvSpPr>
        <p:spPr>
          <a:xfrm>
            <a:off x="2560320" y="2377440"/>
            <a:ext cx="1645560" cy="456840"/>
          </a:xfrm>
          <a:prstGeom prst="ellipse">
            <a:avLst/>
          </a:prstGeom>
          <a:solidFill>
            <a:srgbClr val="FFFFFF"/>
          </a:solidFill>
          <a:ln w="255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0" name="Text 8"/>
          <p:cNvSpPr/>
          <p:nvPr/>
        </p:nvSpPr>
        <p:spPr>
          <a:xfrm>
            <a:off x="2560320" y="2377440"/>
            <a:ext cx="164556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000000"/>
                </a:solidFill>
                <a:latin typeface="Calibri"/>
              </a:rPr>
              <a:t>Classify Severity\nLevel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1" name="Shape 9"/>
          <p:cNvSpPr/>
          <p:nvPr/>
        </p:nvSpPr>
        <p:spPr>
          <a:xfrm>
            <a:off x="2560320" y="2926080"/>
            <a:ext cx="1645560" cy="456840"/>
          </a:xfrm>
          <a:prstGeom prst="ellipse">
            <a:avLst/>
          </a:prstGeom>
          <a:solidFill>
            <a:srgbClr val="FFFFFF"/>
          </a:solidFill>
          <a:ln w="255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2" name="Text 10"/>
          <p:cNvSpPr/>
          <p:nvPr/>
        </p:nvSpPr>
        <p:spPr>
          <a:xfrm>
            <a:off x="2560320" y="2926080"/>
            <a:ext cx="164556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000000"/>
                </a:solidFill>
                <a:latin typeface="Calibri"/>
              </a:rPr>
              <a:t>Generate\nExplanation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3" name="Shape 11"/>
          <p:cNvSpPr/>
          <p:nvPr/>
        </p:nvSpPr>
        <p:spPr>
          <a:xfrm>
            <a:off x="2560320" y="3474720"/>
            <a:ext cx="1645560" cy="456840"/>
          </a:xfrm>
          <a:prstGeom prst="ellipse">
            <a:avLst/>
          </a:prstGeom>
          <a:solidFill>
            <a:srgbClr val="FFFFFF"/>
          </a:solidFill>
          <a:ln w="255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4" name="Text 12"/>
          <p:cNvSpPr/>
          <p:nvPr/>
        </p:nvSpPr>
        <p:spPr>
          <a:xfrm>
            <a:off x="2560320" y="3474720"/>
            <a:ext cx="164556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000000"/>
                </a:solidFill>
                <a:latin typeface="Calibri"/>
              </a:rPr>
              <a:t>Get Personalized\nDiet Plan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5" name="Shape 13"/>
          <p:cNvSpPr/>
          <p:nvPr/>
        </p:nvSpPr>
        <p:spPr>
          <a:xfrm>
            <a:off x="5029200" y="1554480"/>
            <a:ext cx="1645560" cy="456840"/>
          </a:xfrm>
          <a:prstGeom prst="ellipse">
            <a:avLst/>
          </a:prstGeom>
          <a:solidFill>
            <a:srgbClr val="FFFFFF"/>
          </a:solidFill>
          <a:ln w="255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6" name="Text 14"/>
          <p:cNvSpPr/>
          <p:nvPr/>
        </p:nvSpPr>
        <p:spPr>
          <a:xfrm>
            <a:off x="5029200" y="1554480"/>
            <a:ext cx="164556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000000"/>
                </a:solidFill>
                <a:latin typeface="Calibri"/>
              </a:rPr>
              <a:t>View Results &amp;\nRecommendations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7" name="Shape 15"/>
          <p:cNvSpPr/>
          <p:nvPr/>
        </p:nvSpPr>
        <p:spPr>
          <a:xfrm>
            <a:off x="5029200" y="2286000"/>
            <a:ext cx="1645560" cy="456840"/>
          </a:xfrm>
          <a:prstGeom prst="ellipse">
            <a:avLst/>
          </a:prstGeom>
          <a:solidFill>
            <a:srgbClr val="FFFFFF"/>
          </a:solidFill>
          <a:ln w="255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8" name="Text 16"/>
          <p:cNvSpPr/>
          <p:nvPr/>
        </p:nvSpPr>
        <p:spPr>
          <a:xfrm>
            <a:off x="5029200" y="2286000"/>
            <a:ext cx="164556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000000"/>
                </a:solidFill>
                <a:latin typeface="Calibri"/>
              </a:rPr>
              <a:t>Receive Next Steps\nGuidance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9" name="Shape 17"/>
          <p:cNvSpPr/>
          <p:nvPr/>
        </p:nvSpPr>
        <p:spPr>
          <a:xfrm>
            <a:off x="5029200" y="3017520"/>
            <a:ext cx="1645560" cy="456840"/>
          </a:xfrm>
          <a:prstGeom prst="ellipse">
            <a:avLst/>
          </a:prstGeom>
          <a:solidFill>
            <a:srgbClr val="FFFFFF"/>
          </a:solidFill>
          <a:ln w="255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0" name="Text 18"/>
          <p:cNvSpPr/>
          <p:nvPr/>
        </p:nvSpPr>
        <p:spPr>
          <a:xfrm>
            <a:off x="5029200" y="3017520"/>
            <a:ext cx="164556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000000"/>
                </a:solidFill>
                <a:latin typeface="Calibri"/>
              </a:rPr>
              <a:t>Download Summary\nReport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1" name="Shape 19"/>
          <p:cNvSpPr/>
          <p:nvPr/>
        </p:nvSpPr>
        <p:spPr>
          <a:xfrm>
            <a:off x="731520" y="2286000"/>
            <a:ext cx="273960" cy="273960"/>
          </a:xfrm>
          <a:prstGeom prst="ellipse">
            <a:avLst/>
          </a:prstGeom>
          <a:solidFill>
            <a:srgbClr val="FFFFFF"/>
          </a:solidFill>
          <a:ln w="255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2" name="Shape 20"/>
          <p:cNvSpPr/>
          <p:nvPr/>
        </p:nvSpPr>
        <p:spPr>
          <a:xfrm>
            <a:off x="868680" y="2560320"/>
            <a:ext cx="360" cy="365760"/>
          </a:xfrm>
          <a:prstGeom prst="line">
            <a:avLst/>
          </a:prstGeom>
          <a:ln w="255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3" name="Shape 21"/>
          <p:cNvSpPr/>
          <p:nvPr/>
        </p:nvSpPr>
        <p:spPr>
          <a:xfrm flipH="1">
            <a:off x="685800" y="2697480"/>
            <a:ext cx="182880" cy="228600"/>
          </a:xfrm>
          <a:prstGeom prst="line">
            <a:avLst/>
          </a:prstGeom>
          <a:ln w="255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4" name="Shape 22"/>
          <p:cNvSpPr/>
          <p:nvPr/>
        </p:nvSpPr>
        <p:spPr>
          <a:xfrm>
            <a:off x="868680" y="2697480"/>
            <a:ext cx="182880" cy="228600"/>
          </a:xfrm>
          <a:prstGeom prst="line">
            <a:avLst/>
          </a:prstGeom>
          <a:ln w="255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5" name="Shape 23"/>
          <p:cNvSpPr/>
          <p:nvPr/>
        </p:nvSpPr>
        <p:spPr>
          <a:xfrm flipH="1">
            <a:off x="731520" y="2926080"/>
            <a:ext cx="137160" cy="274320"/>
          </a:xfrm>
          <a:prstGeom prst="line">
            <a:avLst/>
          </a:prstGeom>
          <a:ln w="255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6" name="Shape 24"/>
          <p:cNvSpPr/>
          <p:nvPr/>
        </p:nvSpPr>
        <p:spPr>
          <a:xfrm>
            <a:off x="868680" y="2926080"/>
            <a:ext cx="137160" cy="274320"/>
          </a:xfrm>
          <a:prstGeom prst="line">
            <a:avLst/>
          </a:prstGeom>
          <a:ln w="255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7" name="Text 25"/>
          <p:cNvSpPr/>
          <p:nvPr/>
        </p:nvSpPr>
        <p:spPr>
          <a:xfrm>
            <a:off x="548640" y="3246120"/>
            <a:ext cx="6397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-1">
                <a:solidFill>
                  <a:srgbClr val="000000"/>
                </a:solidFill>
                <a:latin typeface="Calibri"/>
              </a:rPr>
              <a:t>Patient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8" name="Shape 26"/>
          <p:cNvSpPr/>
          <p:nvPr/>
        </p:nvSpPr>
        <p:spPr>
          <a:xfrm>
            <a:off x="7955280" y="2286000"/>
            <a:ext cx="273960" cy="273960"/>
          </a:xfrm>
          <a:prstGeom prst="ellipse">
            <a:avLst/>
          </a:prstGeom>
          <a:solidFill>
            <a:srgbClr val="FFFFFF"/>
          </a:solidFill>
          <a:ln w="255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9" name="Shape 27"/>
          <p:cNvSpPr/>
          <p:nvPr/>
        </p:nvSpPr>
        <p:spPr>
          <a:xfrm>
            <a:off x="8092440" y="2560320"/>
            <a:ext cx="360" cy="365760"/>
          </a:xfrm>
          <a:prstGeom prst="line">
            <a:avLst/>
          </a:prstGeom>
          <a:ln w="255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0" name="Shape 28"/>
          <p:cNvSpPr/>
          <p:nvPr/>
        </p:nvSpPr>
        <p:spPr>
          <a:xfrm flipH="1">
            <a:off x="7909560" y="2697480"/>
            <a:ext cx="182880" cy="228600"/>
          </a:xfrm>
          <a:prstGeom prst="line">
            <a:avLst/>
          </a:prstGeom>
          <a:ln w="255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1" name="Shape 29"/>
          <p:cNvSpPr/>
          <p:nvPr/>
        </p:nvSpPr>
        <p:spPr>
          <a:xfrm>
            <a:off x="8092440" y="2697480"/>
            <a:ext cx="182880" cy="228600"/>
          </a:xfrm>
          <a:prstGeom prst="line">
            <a:avLst/>
          </a:prstGeom>
          <a:ln w="255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2" name="Shape 30"/>
          <p:cNvSpPr/>
          <p:nvPr/>
        </p:nvSpPr>
        <p:spPr>
          <a:xfrm flipH="1">
            <a:off x="7955280" y="2926080"/>
            <a:ext cx="137160" cy="274320"/>
          </a:xfrm>
          <a:prstGeom prst="line">
            <a:avLst/>
          </a:prstGeom>
          <a:ln w="255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3" name="Shape 31"/>
          <p:cNvSpPr/>
          <p:nvPr/>
        </p:nvSpPr>
        <p:spPr>
          <a:xfrm>
            <a:off x="8092440" y="2926080"/>
            <a:ext cx="137160" cy="274320"/>
          </a:xfrm>
          <a:prstGeom prst="line">
            <a:avLst/>
          </a:prstGeom>
          <a:ln w="255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4" name="Text 32"/>
          <p:cNvSpPr/>
          <p:nvPr/>
        </p:nvSpPr>
        <p:spPr>
          <a:xfrm>
            <a:off x="7680960" y="3246120"/>
            <a:ext cx="82260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strike="noStrike" spc="-1">
                <a:solidFill>
                  <a:srgbClr val="000000"/>
                </a:solidFill>
                <a:latin typeface="Calibri"/>
              </a:rPr>
              <a:t>Healthcare\nProvider</a:t>
            </a: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5" name="Shape 33"/>
          <p:cNvSpPr/>
          <p:nvPr/>
        </p:nvSpPr>
        <p:spPr>
          <a:xfrm flipV="1">
            <a:off x="1097280" y="1508760"/>
            <a:ext cx="1463040" cy="1143000"/>
          </a:xfrm>
          <a:prstGeom prst="line">
            <a:avLst/>
          </a:prstGeom>
          <a:ln w="1260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6" name="Shape 34"/>
          <p:cNvSpPr/>
          <p:nvPr/>
        </p:nvSpPr>
        <p:spPr>
          <a:xfrm flipV="1">
            <a:off x="1097280" y="2057400"/>
            <a:ext cx="1463040" cy="594360"/>
          </a:xfrm>
          <a:prstGeom prst="line">
            <a:avLst/>
          </a:prstGeom>
          <a:ln w="1260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7" name="Shape 35"/>
          <p:cNvSpPr/>
          <p:nvPr/>
        </p:nvSpPr>
        <p:spPr>
          <a:xfrm flipV="1">
            <a:off x="1097280" y="2606040"/>
            <a:ext cx="1463040" cy="45720"/>
          </a:xfrm>
          <a:prstGeom prst="line">
            <a:avLst/>
          </a:prstGeom>
          <a:ln w="1260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" rIns="90000" bIns="72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8" name="Shape 36"/>
          <p:cNvSpPr/>
          <p:nvPr/>
        </p:nvSpPr>
        <p:spPr>
          <a:xfrm>
            <a:off x="1097280" y="2651760"/>
            <a:ext cx="1463040" cy="502920"/>
          </a:xfrm>
          <a:prstGeom prst="line">
            <a:avLst/>
          </a:prstGeom>
          <a:ln w="1260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9" name="Shape 37"/>
          <p:cNvSpPr/>
          <p:nvPr/>
        </p:nvSpPr>
        <p:spPr>
          <a:xfrm>
            <a:off x="1097280" y="2651760"/>
            <a:ext cx="1463040" cy="1051560"/>
          </a:xfrm>
          <a:prstGeom prst="line">
            <a:avLst/>
          </a:prstGeom>
          <a:ln w="1260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0" name="Shape 38"/>
          <p:cNvSpPr/>
          <p:nvPr/>
        </p:nvSpPr>
        <p:spPr>
          <a:xfrm flipH="1" flipV="1">
            <a:off x="6675120" y="1783080"/>
            <a:ext cx="1280160" cy="868680"/>
          </a:xfrm>
          <a:prstGeom prst="line">
            <a:avLst/>
          </a:prstGeom>
          <a:ln w="1260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1" name="Shape 39"/>
          <p:cNvSpPr/>
          <p:nvPr/>
        </p:nvSpPr>
        <p:spPr>
          <a:xfrm flipH="1" flipV="1">
            <a:off x="6675120" y="2514600"/>
            <a:ext cx="1280160" cy="137160"/>
          </a:xfrm>
          <a:prstGeom prst="line">
            <a:avLst/>
          </a:prstGeom>
          <a:ln w="1260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2" name="Shape 40"/>
          <p:cNvSpPr/>
          <p:nvPr/>
        </p:nvSpPr>
        <p:spPr>
          <a:xfrm flipH="1">
            <a:off x="6675120" y="2651760"/>
            <a:ext cx="1280160" cy="594360"/>
          </a:xfrm>
          <a:prstGeom prst="line">
            <a:avLst/>
          </a:prstGeom>
          <a:ln w="1260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Text 0"/>
          <p:cNvSpPr/>
          <p:nvPr/>
        </p:nvSpPr>
        <p:spPr>
          <a:xfrm>
            <a:off x="274320" y="182880"/>
            <a:ext cx="859500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strike="noStrike" spc="-1">
                <a:solidFill>
                  <a:srgbClr val="000000"/>
                </a:solidFill>
                <a:latin typeface="Calibri"/>
              </a:rPr>
              <a:t>UML CLASS DIAGRAM</a:t>
            </a: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4" name="Shape 1"/>
          <p:cNvSpPr/>
          <p:nvPr/>
        </p:nvSpPr>
        <p:spPr>
          <a:xfrm>
            <a:off x="457200" y="914400"/>
            <a:ext cx="2559960" cy="1435320"/>
          </a:xfrm>
          <a:prstGeom prst="rect">
            <a:avLst/>
          </a:prstGeom>
          <a:solidFill>
            <a:srgbClr val="FFFFFF"/>
          </a:solidFill>
          <a:ln w="255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5" name="Text 2"/>
          <p:cNvSpPr/>
          <p:nvPr/>
        </p:nvSpPr>
        <p:spPr>
          <a:xfrm>
            <a:off x="457200" y="960120"/>
            <a:ext cx="255996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-1">
                <a:solidFill>
                  <a:srgbClr val="000000"/>
                </a:solidFill>
                <a:latin typeface="Calibri"/>
              </a:rPr>
              <a:t>LabReport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6" name="Shape 3"/>
          <p:cNvSpPr/>
          <p:nvPr/>
        </p:nvSpPr>
        <p:spPr>
          <a:xfrm>
            <a:off x="457200" y="1234440"/>
            <a:ext cx="2560320" cy="360"/>
          </a:xfrm>
          <a:prstGeom prst="line">
            <a:avLst/>
          </a:prstGeom>
          <a:ln w="1260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7" name="Text 4"/>
          <p:cNvSpPr/>
          <p:nvPr/>
        </p:nvSpPr>
        <p:spPr>
          <a:xfrm>
            <a:off x="548640" y="1280160"/>
            <a:ext cx="2377080" cy="155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000000"/>
                </a:solidFill>
                <a:latin typeface="Calibri"/>
              </a:rPr>
              <a:t>-report_id: UUID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8" name="Text 5"/>
          <p:cNvSpPr/>
          <p:nvPr/>
        </p:nvSpPr>
        <p:spPr>
          <a:xfrm>
            <a:off x="548640" y="1435680"/>
            <a:ext cx="2377080" cy="155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000000"/>
                </a:solidFill>
                <a:latin typeface="Calibri"/>
              </a:rPr>
              <a:t>-file_path: String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9" name="Text 6"/>
          <p:cNvSpPr/>
          <p:nvPr/>
        </p:nvSpPr>
        <p:spPr>
          <a:xfrm>
            <a:off x="548640" y="1591200"/>
            <a:ext cx="2377080" cy="155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000000"/>
                </a:solidFill>
                <a:latin typeface="Calibri"/>
              </a:rPr>
              <a:t>-user_context: Object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0" name="Text 7"/>
          <p:cNvSpPr/>
          <p:nvPr/>
        </p:nvSpPr>
        <p:spPr>
          <a:xfrm>
            <a:off x="548640" y="1746360"/>
            <a:ext cx="2377080" cy="155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000000"/>
                </a:solidFill>
                <a:latin typeface="Calibri"/>
              </a:rPr>
              <a:t>-extracted_values: Dict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1" name="Shape 8"/>
          <p:cNvSpPr/>
          <p:nvPr/>
        </p:nvSpPr>
        <p:spPr>
          <a:xfrm>
            <a:off x="457200" y="1947600"/>
            <a:ext cx="2560320" cy="360"/>
          </a:xfrm>
          <a:prstGeom prst="line">
            <a:avLst/>
          </a:prstGeom>
          <a:ln w="1260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2" name="Text 9"/>
          <p:cNvSpPr/>
          <p:nvPr/>
        </p:nvSpPr>
        <p:spPr>
          <a:xfrm>
            <a:off x="548640" y="1993320"/>
            <a:ext cx="2377080" cy="155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000000"/>
                </a:solidFill>
                <a:latin typeface="Calibri"/>
              </a:rPr>
              <a:t>+upload(): Boolean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3" name="Text 10"/>
          <p:cNvSpPr/>
          <p:nvPr/>
        </p:nvSpPr>
        <p:spPr>
          <a:xfrm>
            <a:off x="548640" y="2148840"/>
            <a:ext cx="2377080" cy="155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000000"/>
                </a:solidFill>
                <a:latin typeface="Calibri"/>
              </a:rPr>
              <a:t>+validate(): Boolean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4" name="Shape 11"/>
          <p:cNvSpPr/>
          <p:nvPr/>
        </p:nvSpPr>
        <p:spPr>
          <a:xfrm>
            <a:off x="3200400" y="914400"/>
            <a:ext cx="2559960" cy="1371240"/>
          </a:xfrm>
          <a:prstGeom prst="rect">
            <a:avLst/>
          </a:prstGeom>
          <a:solidFill>
            <a:srgbClr val="FFFFFF"/>
          </a:solidFill>
          <a:ln w="255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5" name="Text 12"/>
          <p:cNvSpPr/>
          <p:nvPr/>
        </p:nvSpPr>
        <p:spPr>
          <a:xfrm>
            <a:off x="3200400" y="960120"/>
            <a:ext cx="255996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i="1" strike="noStrike" spc="-1">
                <a:solidFill>
                  <a:srgbClr val="000000"/>
                </a:solidFill>
                <a:latin typeface="Calibri"/>
              </a:rPr>
              <a:t>&lt;&lt;abstract&gt;&gt;</a:t>
            </a:r>
            <a:endParaRPr lang="en-US" sz="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6" name="Text 13"/>
          <p:cNvSpPr/>
          <p:nvPr/>
        </p:nvSpPr>
        <p:spPr>
          <a:xfrm>
            <a:off x="3200400" y="1097280"/>
            <a:ext cx="255996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-1">
                <a:solidFill>
                  <a:srgbClr val="000000"/>
                </a:solidFill>
                <a:latin typeface="Calibri"/>
              </a:rPr>
              <a:t>Agent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7" name="Shape 14"/>
          <p:cNvSpPr/>
          <p:nvPr/>
        </p:nvSpPr>
        <p:spPr>
          <a:xfrm>
            <a:off x="3200400" y="1325880"/>
            <a:ext cx="2560320" cy="360"/>
          </a:xfrm>
          <a:prstGeom prst="line">
            <a:avLst/>
          </a:prstGeom>
          <a:ln w="1260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8" name="Text 15"/>
          <p:cNvSpPr/>
          <p:nvPr/>
        </p:nvSpPr>
        <p:spPr>
          <a:xfrm>
            <a:off x="3291840" y="1371600"/>
            <a:ext cx="2377080" cy="155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000000"/>
                </a:solidFill>
                <a:latin typeface="Calibri"/>
              </a:rPr>
              <a:t>-agent_id: UUID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9" name="Text 16"/>
          <p:cNvSpPr/>
          <p:nvPr/>
        </p:nvSpPr>
        <p:spPr>
          <a:xfrm>
            <a:off x="3291840" y="1527120"/>
            <a:ext cx="2377080" cy="155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000000"/>
                </a:solidFill>
                <a:latin typeface="Calibri"/>
              </a:rPr>
              <a:t>-state: Object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0" name="Text 17"/>
          <p:cNvSpPr/>
          <p:nvPr/>
        </p:nvSpPr>
        <p:spPr>
          <a:xfrm>
            <a:off x="3291840" y="1682640"/>
            <a:ext cx="2377080" cy="155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000000"/>
                </a:solidFill>
                <a:latin typeface="Calibri"/>
              </a:rPr>
              <a:t>-config: Dict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1" name="Shape 18"/>
          <p:cNvSpPr/>
          <p:nvPr/>
        </p:nvSpPr>
        <p:spPr>
          <a:xfrm>
            <a:off x="3200400" y="1883520"/>
            <a:ext cx="2560320" cy="360"/>
          </a:xfrm>
          <a:prstGeom prst="line">
            <a:avLst/>
          </a:prstGeom>
          <a:ln w="1260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2" name="Text 19"/>
          <p:cNvSpPr/>
          <p:nvPr/>
        </p:nvSpPr>
        <p:spPr>
          <a:xfrm>
            <a:off x="3291840" y="1929240"/>
            <a:ext cx="2377080" cy="155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000000"/>
                </a:solidFill>
                <a:latin typeface="Calibri"/>
              </a:rPr>
              <a:t>+execute(): Result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3" name="Text 20"/>
          <p:cNvSpPr/>
          <p:nvPr/>
        </p:nvSpPr>
        <p:spPr>
          <a:xfrm>
            <a:off x="3291840" y="2084760"/>
            <a:ext cx="2377080" cy="155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000000"/>
                </a:solidFill>
                <a:latin typeface="Calibri"/>
              </a:rPr>
              <a:t>+update_state(): void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4" name="Shape 21"/>
          <p:cNvSpPr/>
          <p:nvPr/>
        </p:nvSpPr>
        <p:spPr>
          <a:xfrm>
            <a:off x="3200400" y="2926080"/>
            <a:ext cx="2559960" cy="968760"/>
          </a:xfrm>
          <a:prstGeom prst="rect">
            <a:avLst/>
          </a:prstGeom>
          <a:solidFill>
            <a:srgbClr val="FFFFFF"/>
          </a:solidFill>
          <a:ln w="255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5" name="Text 22"/>
          <p:cNvSpPr/>
          <p:nvPr/>
        </p:nvSpPr>
        <p:spPr>
          <a:xfrm>
            <a:off x="3200400" y="2971800"/>
            <a:ext cx="255996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-1">
                <a:solidFill>
                  <a:srgbClr val="000000"/>
                </a:solidFill>
                <a:latin typeface="Calibri"/>
              </a:rPr>
              <a:t>PreprocessAgent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6" name="Shape 23"/>
          <p:cNvSpPr/>
          <p:nvPr/>
        </p:nvSpPr>
        <p:spPr>
          <a:xfrm>
            <a:off x="3200400" y="3246120"/>
            <a:ext cx="2560320" cy="360"/>
          </a:xfrm>
          <a:prstGeom prst="line">
            <a:avLst/>
          </a:prstGeom>
          <a:ln w="1260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7" name="Text 24"/>
          <p:cNvSpPr/>
          <p:nvPr/>
        </p:nvSpPr>
        <p:spPr>
          <a:xfrm>
            <a:off x="3291840" y="3291840"/>
            <a:ext cx="2377080" cy="155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000000"/>
                </a:solidFill>
                <a:latin typeface="Calibri"/>
              </a:rPr>
              <a:t>-ocr_engine: OCREngine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8" name="Shape 25"/>
          <p:cNvSpPr/>
          <p:nvPr/>
        </p:nvSpPr>
        <p:spPr>
          <a:xfrm>
            <a:off x="3200400" y="3492720"/>
            <a:ext cx="2560320" cy="360"/>
          </a:xfrm>
          <a:prstGeom prst="line">
            <a:avLst/>
          </a:prstGeom>
          <a:ln w="1260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9" name="Text 26"/>
          <p:cNvSpPr/>
          <p:nvPr/>
        </p:nvSpPr>
        <p:spPr>
          <a:xfrm>
            <a:off x="3291840" y="3538800"/>
            <a:ext cx="2377080" cy="155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000000"/>
                </a:solidFill>
                <a:latin typeface="Calibri"/>
              </a:rPr>
              <a:t>+extract_text(): String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0" name="Text 27"/>
          <p:cNvSpPr/>
          <p:nvPr/>
        </p:nvSpPr>
        <p:spPr>
          <a:xfrm>
            <a:off x="3291840" y="3694320"/>
            <a:ext cx="2377080" cy="155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000000"/>
                </a:solidFill>
                <a:latin typeface="Calibri"/>
              </a:rPr>
              <a:t>+quality_score(): Float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1" name="Shape 28"/>
          <p:cNvSpPr/>
          <p:nvPr/>
        </p:nvSpPr>
        <p:spPr>
          <a:xfrm>
            <a:off x="5943600" y="914400"/>
            <a:ext cx="2559960" cy="1435320"/>
          </a:xfrm>
          <a:prstGeom prst="rect">
            <a:avLst/>
          </a:prstGeom>
          <a:solidFill>
            <a:srgbClr val="FFFFFF"/>
          </a:solidFill>
          <a:ln w="255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2" name="Text 29"/>
          <p:cNvSpPr/>
          <p:nvPr/>
        </p:nvSpPr>
        <p:spPr>
          <a:xfrm>
            <a:off x="5943600" y="960120"/>
            <a:ext cx="255996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-1">
                <a:solidFill>
                  <a:srgbClr val="000000"/>
                </a:solidFill>
                <a:latin typeface="Calibri"/>
              </a:rPr>
              <a:t>Classifier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3" name="Shape 30"/>
          <p:cNvSpPr/>
          <p:nvPr/>
        </p:nvSpPr>
        <p:spPr>
          <a:xfrm>
            <a:off x="5943600" y="1234440"/>
            <a:ext cx="2560320" cy="360"/>
          </a:xfrm>
          <a:prstGeom prst="line">
            <a:avLst/>
          </a:prstGeom>
          <a:ln w="1260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4" name="Text 31"/>
          <p:cNvSpPr/>
          <p:nvPr/>
        </p:nvSpPr>
        <p:spPr>
          <a:xfrm>
            <a:off x="6035040" y="1280160"/>
            <a:ext cx="2377080" cy="155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000000"/>
                </a:solidFill>
                <a:latin typeface="Calibri"/>
              </a:rPr>
              <a:t>-ml_model: Model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5" name="Text 32"/>
          <p:cNvSpPr/>
          <p:nvPr/>
        </p:nvSpPr>
        <p:spPr>
          <a:xfrm>
            <a:off x="6035040" y="1435680"/>
            <a:ext cx="2377080" cy="155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000000"/>
                </a:solidFill>
                <a:latin typeface="Calibri"/>
              </a:rPr>
              <a:t>-rules: RuleEngine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6" name="Text 33"/>
          <p:cNvSpPr/>
          <p:nvPr/>
        </p:nvSpPr>
        <p:spPr>
          <a:xfrm>
            <a:off x="6035040" y="1591200"/>
            <a:ext cx="2377080" cy="155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000000"/>
                </a:solidFill>
                <a:latin typeface="Calibri"/>
              </a:rPr>
              <a:t>-thresholds: Dict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7" name="Shape 34"/>
          <p:cNvSpPr/>
          <p:nvPr/>
        </p:nvSpPr>
        <p:spPr>
          <a:xfrm>
            <a:off x="5943600" y="1792080"/>
            <a:ext cx="2560320" cy="360"/>
          </a:xfrm>
          <a:prstGeom prst="line">
            <a:avLst/>
          </a:prstGeom>
          <a:ln w="1260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8" name="Text 35"/>
          <p:cNvSpPr/>
          <p:nvPr/>
        </p:nvSpPr>
        <p:spPr>
          <a:xfrm>
            <a:off x="6035040" y="1837800"/>
            <a:ext cx="2377080" cy="155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000000"/>
                </a:solidFill>
                <a:latin typeface="Calibri"/>
              </a:rPr>
              <a:t>+predict(): Prediction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9" name="Text 36"/>
          <p:cNvSpPr/>
          <p:nvPr/>
        </p:nvSpPr>
        <p:spPr>
          <a:xfrm>
            <a:off x="6035040" y="1993320"/>
            <a:ext cx="2377080" cy="155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000000"/>
                </a:solidFill>
                <a:latin typeface="Calibri"/>
              </a:rPr>
              <a:t>+explain(): String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0" name="Text 37"/>
          <p:cNvSpPr/>
          <p:nvPr/>
        </p:nvSpPr>
        <p:spPr>
          <a:xfrm>
            <a:off x="6035040" y="2148840"/>
            <a:ext cx="2377080" cy="155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000000"/>
                </a:solidFill>
                <a:latin typeface="Calibri"/>
              </a:rPr>
              <a:t>+resolve_conflicts(): Result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1" name="Shape 38"/>
          <p:cNvSpPr/>
          <p:nvPr/>
        </p:nvSpPr>
        <p:spPr>
          <a:xfrm flipV="1">
            <a:off x="4480560" y="2057400"/>
            <a:ext cx="360" cy="868680"/>
          </a:xfrm>
          <a:prstGeom prst="line">
            <a:avLst/>
          </a:prstGeom>
          <a:ln w="255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2" name="Shape 39"/>
          <p:cNvSpPr/>
          <p:nvPr/>
        </p:nvSpPr>
        <p:spPr>
          <a:xfrm flipH="1" flipV="1">
            <a:off x="4343400" y="1874520"/>
            <a:ext cx="137160" cy="182880"/>
          </a:xfrm>
          <a:prstGeom prst="line">
            <a:avLst/>
          </a:prstGeom>
          <a:ln w="255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3" name="Shape 40"/>
          <p:cNvSpPr/>
          <p:nvPr/>
        </p:nvSpPr>
        <p:spPr>
          <a:xfrm flipV="1">
            <a:off x="4480560" y="1874520"/>
            <a:ext cx="137160" cy="182880"/>
          </a:xfrm>
          <a:prstGeom prst="line">
            <a:avLst/>
          </a:prstGeom>
          <a:ln w="255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4" name="Shape 41"/>
          <p:cNvSpPr/>
          <p:nvPr/>
        </p:nvSpPr>
        <p:spPr>
          <a:xfrm>
            <a:off x="4343400" y="1874520"/>
            <a:ext cx="274320" cy="360"/>
          </a:xfrm>
          <a:prstGeom prst="line">
            <a:avLst/>
          </a:prstGeom>
          <a:ln w="255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5" name="Text 42"/>
          <p:cNvSpPr/>
          <p:nvPr/>
        </p:nvSpPr>
        <p:spPr>
          <a:xfrm>
            <a:off x="4572000" y="2286000"/>
            <a:ext cx="73116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i="1" strike="noStrike" spc="-1">
                <a:solidFill>
                  <a:srgbClr val="000000"/>
                </a:solidFill>
                <a:latin typeface="Calibri"/>
              </a:rPr>
              <a:t>extends</a:t>
            </a:r>
            <a:endParaRPr lang="en-US" sz="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6" name="Shape 43"/>
          <p:cNvSpPr/>
          <p:nvPr/>
        </p:nvSpPr>
        <p:spPr>
          <a:xfrm>
            <a:off x="3017520" y="1371600"/>
            <a:ext cx="2926080" cy="360"/>
          </a:xfrm>
          <a:prstGeom prst="line">
            <a:avLst/>
          </a:prstGeom>
          <a:ln w="1908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7" name="Text 44"/>
          <p:cNvSpPr/>
          <p:nvPr/>
        </p:nvSpPr>
        <p:spPr>
          <a:xfrm>
            <a:off x="4114800" y="1188720"/>
            <a:ext cx="54828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i="1" strike="noStrike" spc="-1">
                <a:solidFill>
                  <a:srgbClr val="000000"/>
                </a:solidFill>
                <a:latin typeface="Calibri"/>
              </a:rPr>
              <a:t>uses</a:t>
            </a:r>
            <a:endParaRPr lang="en-US" sz="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8" name="Text 45"/>
          <p:cNvSpPr/>
          <p:nvPr/>
        </p:nvSpPr>
        <p:spPr>
          <a:xfrm>
            <a:off x="2743200" y="1234440"/>
            <a:ext cx="1825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strike="noStrike" spc="-1">
                <a:solidFill>
                  <a:srgbClr val="000000"/>
                </a:solidFill>
                <a:latin typeface="Calibri"/>
              </a:rPr>
              <a:t>1</a:t>
            </a:r>
            <a:endParaRPr lang="en-US" sz="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9" name="Text 46"/>
          <p:cNvSpPr/>
          <p:nvPr/>
        </p:nvSpPr>
        <p:spPr>
          <a:xfrm>
            <a:off x="5760720" y="1234440"/>
            <a:ext cx="1825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strike="noStrike" spc="-1">
                <a:solidFill>
                  <a:srgbClr val="000000"/>
                </a:solidFill>
                <a:latin typeface="Calibri"/>
              </a:rPr>
              <a:t>1</a:t>
            </a:r>
            <a:endParaRPr lang="en-US" sz="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8288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914400" y="292608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AI-Based Medical Assistant for Lab Report Analysis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system empowers healthcare providers and patients with automated, accurate, and explainable lab report interpretation.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and discussion welcome.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1531</Words>
  <Application>Microsoft Office PowerPoint</Application>
  <PresentationFormat>On-screen Show (16:9)</PresentationFormat>
  <Paragraphs>227</Paragraphs>
  <Slides>16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Canva Sans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AI-Based Medical Assistant for Lab Report Analysis</dc:title>
  <dc:subject>BTech Project Review</dc:subject>
  <dc:creator>Charan Kumar Marepalli</dc:creator>
  <cp:lastModifiedBy>Gayatri Ganta</cp:lastModifiedBy>
  <cp:revision>3</cp:revision>
  <dcterms:created xsi:type="dcterms:W3CDTF">2026-01-26T05:27:10Z</dcterms:created>
  <dcterms:modified xsi:type="dcterms:W3CDTF">2026-01-26T07:35:51Z</dcterms:modified>
</cp:coreProperties>
</file>